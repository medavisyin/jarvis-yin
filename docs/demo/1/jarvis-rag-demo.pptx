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2" d="100"/>
          <a:sy n="152" d="100"/>
        </p:scale>
        <p:origin x="604" y="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540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I want to introduce Jarvis — an AI assistant I've built using RAG technology, specifically designed for our medavis P4M team. Over the next hour, I'll explain what RAG is, how Jarvis uses it, and give you live demos of the features.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our agenda for today. We'll start with context, then cover RAG concepts since you all know LLMs already. Then two live demo sessions with some architecture slides in between. We'll wrap up with lessons learned and Q&amp;A.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what is Jarvis? It's an AI assistant that runs entirely locally on your machine. No data leaves your computer. It has over 18,000 indexed knowledge chunks from our Confluence, Jira, codebase, and daily AI briefings. The key innovation is Auto-RAG — it ALWAYS retrieves relevant context before answering, unlike ChatGPT which just uses its training data.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all know LLMs well. The core problem is: LLMs alone don't know about OUR data. They can't answer questions about our Jira tickets, our wiki pages, our codebase. RAG solves this by looking up relevant information first, then feeding it to the LLM as context. Think of it as: don't just think — look it up first, then answer.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RAG pipeline in four steps. First, we index: take documents, split them into chunks, convert to embeddings, store in a vector database. Then when a user asks a question, we embed the query, search for similar chunks, inject those chunks into the LLM prompt, and generate a grounded answer. The LLM never answers from memory alone.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few key concepts since you know LLMs. Embeddings are vectors that capture semantic meaning — similar concepts end up close together. Vector search finds the most similar chunks fast. We use hybrid search — combining semantic vector search with keyword-based BM25, merged via Reciprocal Rank Fusion. And chunking is how we split documents into digestible pieces.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full architecture. The web UI sends queries to Flask. The pipeline does intent routing, then runs Auto-RAG in parallel with any needed tools. Results go to the agent loop which streams responses back. Everything sits on Qdrant for vectors and Ollama for the LLM, all local.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switch to the live demo. I'll show you the medavis-specific features — the tools that integrate with our daily workflow at medavis.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five medavis features. I'll demo each one: Jira reports, Confluence wiki search, commit summaries, codebase querying, and the project dependency graph. Each of these is indexed and searchable through natural language chat.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explain what makes Jarvis's RAG different from a basic implementation. First, it's always-on — no need for the LLM to decide whether to search. Second, hybrid search catches both semantic and keyword matches. Third, it's entity-aware — it knows about team members, wiki types, projects. And it runs everything in parallel for speed.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data flow for every query. Three threads run in parallel: Auto-RAG search, and optionally commit summary and Jira report tools. The RAG search itself goes through vague query detection, batch embedding, vector search, BM25, and entity filtering. All of this happens in about 100 milliseconds, before the LLM even starts generating.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see the daily fetch pipeline in action — this is how Jarvis aggregates information from multiple sources every day.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daily fetch pipeline has six main steps. It fetches from 16 AI news sources in parallel, deduplicates topics, generates commit and Jira reports, fetches wiki changes, and produces three audio podcasts. The output is a complete daily briefing — PDF, audio, and indexed knowledge.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wrap up — the biggest lesson is that RAG is the practical bridge between generic LLMs and your specific domain knowledge. You don't need GPT-4 to build useful tools. A small local model plus excellent retrieval goes a long way. The real engineering investment should be in the retrieval pipeline.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I'm happy to take questions. You can try Jarvis yourself at localhost 18889 for the chat agent and 18888 for the search UI. Feel free to explore and give feedback.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058400" cy="1097280"/>
          </a:xfrm>
          <a:prstGeom prst="rect">
            <a:avLst/>
          </a:prstGeom>
          <a:noFill/>
        </p:spPr>
        <p:txBody>
          <a:bodyPr wrap="square">
            <a:spAutoFit/>
          </a:bodyPr>
          <a:lstStyle/>
          <a:p>
            <a:pPr algn="l">
              <a:defRPr sz="6000" b="1">
                <a:solidFill>
                  <a:srgbClr val="00D4FF"/>
                </a:solidFill>
                <a:latin typeface="Segoe UI"/>
              </a:defRPr>
            </a:pPr>
            <a:r>
              <a:t>Jarvis</a:t>
            </a:r>
          </a:p>
        </p:txBody>
      </p:sp>
      <p:sp>
        <p:nvSpPr>
          <p:cNvPr id="5" name="TextBox 4"/>
          <p:cNvSpPr txBox="1"/>
          <p:nvPr/>
        </p:nvSpPr>
        <p:spPr>
          <a:xfrm>
            <a:off x="914400" y="2468880"/>
            <a:ext cx="10058400" cy="914400"/>
          </a:xfrm>
          <a:prstGeom prst="rect">
            <a:avLst/>
          </a:prstGeom>
          <a:noFill/>
        </p:spPr>
        <p:txBody>
          <a:bodyPr wrap="square">
            <a:spAutoFit/>
          </a:bodyPr>
          <a:lstStyle/>
          <a:p>
            <a:pPr algn="l">
              <a:defRPr sz="3200" b="0">
                <a:solidFill>
                  <a:srgbClr val="FFFFFF"/>
                </a:solidFill>
                <a:latin typeface="Segoe UI"/>
              </a:defRPr>
            </a:pPr>
            <a:r>
              <a:t>RAG-Powered AI Assistant for medavis</a:t>
            </a:r>
          </a:p>
        </p:txBody>
      </p:sp>
      <p:sp>
        <p:nvSpPr>
          <p:cNvPr id="6" name="Rectangle 5"/>
          <p:cNvSpPr/>
          <p:nvPr/>
        </p:nvSpPr>
        <p:spPr>
          <a:xfrm>
            <a:off x="914400" y="3383280"/>
            <a:ext cx="2743200"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840480"/>
            <a:ext cx="10058400" cy="548640"/>
          </a:xfrm>
          <a:prstGeom prst="rect">
            <a:avLst/>
          </a:prstGeom>
          <a:noFill/>
        </p:spPr>
        <p:txBody>
          <a:bodyPr wrap="square">
            <a:spAutoFit/>
          </a:bodyPr>
          <a:lstStyle/>
          <a:p>
            <a:pPr algn="l">
              <a:defRPr sz="2200" b="0">
                <a:solidFill>
                  <a:srgbClr val="AAAAAA"/>
                </a:solidFill>
                <a:latin typeface="Segoe UI"/>
              </a:defRPr>
            </a:pPr>
            <a:r>
              <a:t>Team Demo &amp; Introduction</a:t>
            </a:r>
          </a:p>
        </p:txBody>
      </p:sp>
      <p:sp>
        <p:nvSpPr>
          <p:cNvPr id="8" name="TextBox 7"/>
          <p:cNvSpPr txBox="1"/>
          <p:nvPr/>
        </p:nvSpPr>
        <p:spPr>
          <a:xfrm>
            <a:off x="914400" y="4572000"/>
            <a:ext cx="10058400" cy="548640"/>
          </a:xfrm>
          <a:prstGeom prst="rect">
            <a:avLst/>
          </a:prstGeom>
          <a:noFill/>
        </p:spPr>
        <p:txBody>
          <a:bodyPr wrap="square">
            <a:spAutoFit/>
          </a:bodyPr>
          <a:lstStyle/>
          <a:p>
            <a:pPr algn="l">
              <a:defRPr sz="1800" b="0">
                <a:solidFill>
                  <a:srgbClr val="AAAAAA"/>
                </a:solidFill>
                <a:latin typeface="Segoe UI"/>
              </a:defRPr>
            </a:pPr>
            <a:r>
              <a:t>Rong Yin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4572000" cy="548640"/>
          </a:xfrm>
          <a:prstGeom prst="rect">
            <a:avLst/>
          </a:prstGeom>
          <a:noFill/>
        </p:spPr>
        <p:txBody>
          <a:bodyPr wrap="square">
            <a:spAutoFit/>
          </a:bodyPr>
          <a:lstStyle/>
          <a:p>
            <a:pPr algn="l">
              <a:defRPr sz="3600" b="1">
                <a:solidFill>
                  <a:srgbClr val="00D4FF"/>
                </a:solidFill>
                <a:latin typeface="Segoe UI"/>
              </a:defRPr>
            </a:pPr>
            <a:r>
              <a:t>AGENDA</a:t>
            </a:r>
          </a:p>
        </p:txBody>
      </p:sp>
      <p:sp>
        <p:nvSpPr>
          <p:cNvPr id="5" name="Rectangle 4"/>
          <p:cNvSpPr/>
          <p:nvPr/>
        </p:nvSpPr>
        <p:spPr>
          <a:xfrm>
            <a:off x="731520" y="914400"/>
            <a:ext cx="182880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280160"/>
            <a:ext cx="548640" cy="457200"/>
          </a:xfrm>
          <a:prstGeom prst="rect">
            <a:avLst/>
          </a:prstGeom>
          <a:noFill/>
        </p:spPr>
        <p:txBody>
          <a:bodyPr wrap="square">
            <a:spAutoFit/>
          </a:bodyPr>
          <a:lstStyle/>
          <a:p>
            <a:pPr algn="l">
              <a:defRPr sz="2000" b="1">
                <a:solidFill>
                  <a:srgbClr val="00D4FF"/>
                </a:solidFill>
                <a:latin typeface="Segoe UI"/>
              </a:defRPr>
            </a:pPr>
            <a:r>
              <a:t>01</a:t>
            </a:r>
          </a:p>
        </p:txBody>
      </p:sp>
      <p:sp>
        <p:nvSpPr>
          <p:cNvPr id="7" name="TextBox 6"/>
          <p:cNvSpPr txBox="1"/>
          <p:nvPr/>
        </p:nvSpPr>
        <p:spPr>
          <a:xfrm>
            <a:off x="1645920" y="1280160"/>
            <a:ext cx="4572000" cy="320040"/>
          </a:xfrm>
          <a:prstGeom prst="rect">
            <a:avLst/>
          </a:prstGeom>
          <a:noFill/>
        </p:spPr>
        <p:txBody>
          <a:bodyPr wrap="square">
            <a:spAutoFit/>
          </a:bodyPr>
          <a:lstStyle/>
          <a:p>
            <a:pPr algn="l">
              <a:defRPr sz="2000" b="1">
                <a:solidFill>
                  <a:srgbClr val="FFFFFF"/>
                </a:solidFill>
                <a:latin typeface="Segoe UI"/>
              </a:defRPr>
            </a:pPr>
            <a:r>
              <a:t>What is Jarvis?</a:t>
            </a:r>
          </a:p>
        </p:txBody>
      </p:sp>
      <p:sp>
        <p:nvSpPr>
          <p:cNvPr id="8" name="TextBox 7"/>
          <p:cNvSpPr txBox="1"/>
          <p:nvPr/>
        </p:nvSpPr>
        <p:spPr>
          <a:xfrm>
            <a:off x="1645920" y="1572768"/>
            <a:ext cx="4572000" cy="274320"/>
          </a:xfrm>
          <a:prstGeom prst="rect">
            <a:avLst/>
          </a:prstGeom>
          <a:noFill/>
        </p:spPr>
        <p:txBody>
          <a:bodyPr wrap="square">
            <a:spAutoFit/>
          </a:bodyPr>
          <a:lstStyle/>
          <a:p>
            <a:pPr algn="l">
              <a:defRPr sz="1400" b="0">
                <a:solidFill>
                  <a:srgbClr val="AAAAAA"/>
                </a:solidFill>
                <a:latin typeface="Segoe UI"/>
              </a:defRPr>
            </a:pPr>
            <a:r>
              <a:t>Context &amp; motivation</a:t>
            </a:r>
          </a:p>
        </p:txBody>
      </p:sp>
      <p:sp>
        <p:nvSpPr>
          <p:cNvPr id="10" name="TextBox 9"/>
          <p:cNvSpPr txBox="1"/>
          <p:nvPr/>
        </p:nvSpPr>
        <p:spPr>
          <a:xfrm>
            <a:off x="914400" y="1920239"/>
            <a:ext cx="548640" cy="457200"/>
          </a:xfrm>
          <a:prstGeom prst="rect">
            <a:avLst/>
          </a:prstGeom>
          <a:noFill/>
        </p:spPr>
        <p:txBody>
          <a:bodyPr wrap="square">
            <a:spAutoFit/>
          </a:bodyPr>
          <a:lstStyle/>
          <a:p>
            <a:pPr algn="l">
              <a:defRPr sz="2000" b="1">
                <a:solidFill>
                  <a:srgbClr val="00E676"/>
                </a:solidFill>
                <a:latin typeface="Segoe UI"/>
              </a:defRPr>
            </a:pPr>
            <a:r>
              <a:t>02</a:t>
            </a:r>
          </a:p>
        </p:txBody>
      </p:sp>
      <p:sp>
        <p:nvSpPr>
          <p:cNvPr id="11" name="TextBox 10"/>
          <p:cNvSpPr txBox="1"/>
          <p:nvPr/>
        </p:nvSpPr>
        <p:spPr>
          <a:xfrm>
            <a:off x="1645920" y="1920239"/>
            <a:ext cx="4572000" cy="320040"/>
          </a:xfrm>
          <a:prstGeom prst="rect">
            <a:avLst/>
          </a:prstGeom>
          <a:noFill/>
        </p:spPr>
        <p:txBody>
          <a:bodyPr wrap="square">
            <a:spAutoFit/>
          </a:bodyPr>
          <a:lstStyle/>
          <a:p>
            <a:pPr algn="l">
              <a:defRPr sz="2000" b="1">
                <a:solidFill>
                  <a:srgbClr val="FFFFFF"/>
                </a:solidFill>
                <a:latin typeface="Segoe UI"/>
              </a:defRPr>
            </a:pPr>
            <a:r>
              <a:t>RAG 101 for LLM Users</a:t>
            </a:r>
          </a:p>
        </p:txBody>
      </p:sp>
      <p:sp>
        <p:nvSpPr>
          <p:cNvPr id="12" name="TextBox 11"/>
          <p:cNvSpPr txBox="1"/>
          <p:nvPr/>
        </p:nvSpPr>
        <p:spPr>
          <a:xfrm>
            <a:off x="1645920" y="2212847"/>
            <a:ext cx="4572000" cy="274320"/>
          </a:xfrm>
          <a:prstGeom prst="rect">
            <a:avLst/>
          </a:prstGeom>
          <a:noFill/>
        </p:spPr>
        <p:txBody>
          <a:bodyPr wrap="square">
            <a:spAutoFit/>
          </a:bodyPr>
          <a:lstStyle/>
          <a:p>
            <a:pPr algn="l">
              <a:defRPr sz="1400" b="0">
                <a:solidFill>
                  <a:srgbClr val="AAAAAA"/>
                </a:solidFill>
                <a:latin typeface="Segoe UI"/>
              </a:defRPr>
            </a:pPr>
            <a:r>
              <a:t>Why RAG matters</a:t>
            </a:r>
          </a:p>
        </p:txBody>
      </p:sp>
      <p:sp>
        <p:nvSpPr>
          <p:cNvPr id="14" name="TextBox 13"/>
          <p:cNvSpPr txBox="1"/>
          <p:nvPr/>
        </p:nvSpPr>
        <p:spPr>
          <a:xfrm>
            <a:off x="914400" y="2560320"/>
            <a:ext cx="548640" cy="457200"/>
          </a:xfrm>
          <a:prstGeom prst="rect">
            <a:avLst/>
          </a:prstGeom>
          <a:noFill/>
        </p:spPr>
        <p:txBody>
          <a:bodyPr wrap="square">
            <a:spAutoFit/>
          </a:bodyPr>
          <a:lstStyle/>
          <a:p>
            <a:pPr algn="l">
              <a:defRPr sz="2000" b="1">
                <a:solidFill>
                  <a:srgbClr val="BB86FC"/>
                </a:solidFill>
                <a:latin typeface="Segoe UI"/>
              </a:defRPr>
            </a:pPr>
            <a:r>
              <a:t>03</a:t>
            </a:r>
          </a:p>
        </p:txBody>
      </p:sp>
      <p:sp>
        <p:nvSpPr>
          <p:cNvPr id="15" name="TextBox 14"/>
          <p:cNvSpPr txBox="1"/>
          <p:nvPr/>
        </p:nvSpPr>
        <p:spPr>
          <a:xfrm>
            <a:off x="1645920" y="2560320"/>
            <a:ext cx="4572000" cy="320040"/>
          </a:xfrm>
          <a:prstGeom prst="rect">
            <a:avLst/>
          </a:prstGeom>
          <a:noFill/>
        </p:spPr>
        <p:txBody>
          <a:bodyPr wrap="square">
            <a:spAutoFit/>
          </a:bodyPr>
          <a:lstStyle/>
          <a:p>
            <a:pPr algn="l">
              <a:defRPr sz="2000" b="1">
                <a:solidFill>
                  <a:srgbClr val="FFFFFF"/>
                </a:solidFill>
                <a:latin typeface="Segoe UI"/>
              </a:defRPr>
            </a:pPr>
            <a:r>
              <a:t>Jarvis Architecture</a:t>
            </a:r>
          </a:p>
        </p:txBody>
      </p:sp>
      <p:sp>
        <p:nvSpPr>
          <p:cNvPr id="16" name="TextBox 15"/>
          <p:cNvSpPr txBox="1"/>
          <p:nvPr/>
        </p:nvSpPr>
        <p:spPr>
          <a:xfrm>
            <a:off x="1645920" y="2852927"/>
            <a:ext cx="4572000" cy="274320"/>
          </a:xfrm>
          <a:prstGeom prst="rect">
            <a:avLst/>
          </a:prstGeom>
          <a:noFill/>
        </p:spPr>
        <p:txBody>
          <a:bodyPr wrap="square">
            <a:spAutoFit/>
          </a:bodyPr>
          <a:lstStyle/>
          <a:p>
            <a:pPr algn="l">
              <a:defRPr sz="1400" b="0">
                <a:solidFill>
                  <a:srgbClr val="AAAAAA"/>
                </a:solidFill>
                <a:latin typeface="Segoe UI"/>
              </a:defRPr>
            </a:pPr>
            <a:r>
              <a:t>Auto-RAG, tools, pipeline</a:t>
            </a:r>
          </a:p>
        </p:txBody>
      </p:sp>
      <p:sp>
        <p:nvSpPr>
          <p:cNvPr id="18" name="TextBox 17"/>
          <p:cNvSpPr txBox="1"/>
          <p:nvPr/>
        </p:nvSpPr>
        <p:spPr>
          <a:xfrm>
            <a:off x="914400" y="3200400"/>
            <a:ext cx="548640" cy="457200"/>
          </a:xfrm>
          <a:prstGeom prst="rect">
            <a:avLst/>
          </a:prstGeom>
          <a:noFill/>
        </p:spPr>
        <p:txBody>
          <a:bodyPr wrap="square">
            <a:spAutoFit/>
          </a:bodyPr>
          <a:lstStyle/>
          <a:p>
            <a:pPr algn="l">
              <a:defRPr sz="2000" b="1">
                <a:solidFill>
                  <a:srgbClr val="FF8C00"/>
                </a:solidFill>
                <a:latin typeface="Segoe UI"/>
              </a:defRPr>
            </a:pPr>
            <a:r>
              <a:t>04</a:t>
            </a:r>
          </a:p>
        </p:txBody>
      </p:sp>
      <p:sp>
        <p:nvSpPr>
          <p:cNvPr id="19" name="TextBox 18"/>
          <p:cNvSpPr txBox="1"/>
          <p:nvPr/>
        </p:nvSpPr>
        <p:spPr>
          <a:xfrm>
            <a:off x="1645920" y="3200400"/>
            <a:ext cx="4572000" cy="320040"/>
          </a:xfrm>
          <a:prstGeom prst="rect">
            <a:avLst/>
          </a:prstGeom>
          <a:noFill/>
        </p:spPr>
        <p:txBody>
          <a:bodyPr wrap="square">
            <a:spAutoFit/>
          </a:bodyPr>
          <a:lstStyle/>
          <a:p>
            <a:pPr algn="l">
              <a:defRPr sz="2000" b="1">
                <a:solidFill>
                  <a:srgbClr val="FFFFFF"/>
                </a:solidFill>
                <a:latin typeface="Segoe UI"/>
              </a:defRPr>
            </a:pPr>
            <a:r>
              <a:t>Live Demo: Medavis Features</a:t>
            </a:r>
          </a:p>
        </p:txBody>
      </p:sp>
      <p:sp>
        <p:nvSpPr>
          <p:cNvPr id="20" name="TextBox 19"/>
          <p:cNvSpPr txBox="1"/>
          <p:nvPr/>
        </p:nvSpPr>
        <p:spPr>
          <a:xfrm>
            <a:off x="1645920" y="3493008"/>
            <a:ext cx="4572000" cy="274320"/>
          </a:xfrm>
          <a:prstGeom prst="rect">
            <a:avLst/>
          </a:prstGeom>
          <a:noFill/>
        </p:spPr>
        <p:txBody>
          <a:bodyPr wrap="square">
            <a:spAutoFit/>
          </a:bodyPr>
          <a:lstStyle/>
          <a:p>
            <a:pPr algn="l">
              <a:defRPr sz="1400" b="0">
                <a:solidFill>
                  <a:srgbClr val="AAAAAA"/>
                </a:solidFill>
                <a:latin typeface="Segoe UI"/>
              </a:defRPr>
            </a:pPr>
            <a:r>
              <a:t>Jira, Confluence, Commits, Code</a:t>
            </a:r>
          </a:p>
        </p:txBody>
      </p:sp>
      <p:sp>
        <p:nvSpPr>
          <p:cNvPr id="22" name="TextBox 21"/>
          <p:cNvSpPr txBox="1"/>
          <p:nvPr/>
        </p:nvSpPr>
        <p:spPr>
          <a:xfrm>
            <a:off x="914400" y="3840480"/>
            <a:ext cx="548640" cy="457200"/>
          </a:xfrm>
          <a:prstGeom prst="rect">
            <a:avLst/>
          </a:prstGeom>
          <a:noFill/>
        </p:spPr>
        <p:txBody>
          <a:bodyPr wrap="square">
            <a:spAutoFit/>
          </a:bodyPr>
          <a:lstStyle/>
          <a:p>
            <a:pPr algn="l">
              <a:defRPr sz="2000" b="1">
                <a:solidFill>
                  <a:srgbClr val="00D4FF"/>
                </a:solidFill>
                <a:latin typeface="Segoe UI"/>
              </a:defRPr>
            </a:pPr>
            <a:r>
              <a:t>05</a:t>
            </a:r>
          </a:p>
        </p:txBody>
      </p:sp>
      <p:sp>
        <p:nvSpPr>
          <p:cNvPr id="23" name="TextBox 22"/>
          <p:cNvSpPr txBox="1"/>
          <p:nvPr/>
        </p:nvSpPr>
        <p:spPr>
          <a:xfrm>
            <a:off x="1645920" y="3840480"/>
            <a:ext cx="4572000" cy="320040"/>
          </a:xfrm>
          <a:prstGeom prst="rect">
            <a:avLst/>
          </a:prstGeom>
          <a:noFill/>
        </p:spPr>
        <p:txBody>
          <a:bodyPr wrap="square">
            <a:spAutoFit/>
          </a:bodyPr>
          <a:lstStyle/>
          <a:p>
            <a:pPr algn="l">
              <a:defRPr sz="2000" b="1">
                <a:solidFill>
                  <a:srgbClr val="FFFFFF"/>
                </a:solidFill>
                <a:latin typeface="Segoe UI"/>
              </a:defRPr>
            </a:pPr>
            <a:r>
              <a:t>How Auto-RAG Works</a:t>
            </a:r>
          </a:p>
        </p:txBody>
      </p:sp>
      <p:sp>
        <p:nvSpPr>
          <p:cNvPr id="24" name="TextBox 23"/>
          <p:cNvSpPr txBox="1"/>
          <p:nvPr/>
        </p:nvSpPr>
        <p:spPr>
          <a:xfrm>
            <a:off x="1645920" y="4133088"/>
            <a:ext cx="4572000" cy="274320"/>
          </a:xfrm>
          <a:prstGeom prst="rect">
            <a:avLst/>
          </a:prstGeom>
          <a:noFill/>
        </p:spPr>
        <p:txBody>
          <a:bodyPr wrap="square">
            <a:spAutoFit/>
          </a:bodyPr>
          <a:lstStyle/>
          <a:p>
            <a:pPr algn="l">
              <a:defRPr sz="1400" b="0">
                <a:solidFill>
                  <a:srgbClr val="AAAAAA"/>
                </a:solidFill>
                <a:latin typeface="Segoe UI"/>
              </a:defRPr>
            </a:pPr>
            <a:r>
              <a:t>Under the hood</a:t>
            </a:r>
          </a:p>
        </p:txBody>
      </p:sp>
      <p:sp>
        <p:nvSpPr>
          <p:cNvPr id="26" name="TextBox 25"/>
          <p:cNvSpPr txBox="1"/>
          <p:nvPr/>
        </p:nvSpPr>
        <p:spPr>
          <a:xfrm>
            <a:off x="914400" y="4480560"/>
            <a:ext cx="548640" cy="457200"/>
          </a:xfrm>
          <a:prstGeom prst="rect">
            <a:avLst/>
          </a:prstGeom>
          <a:noFill/>
        </p:spPr>
        <p:txBody>
          <a:bodyPr wrap="square">
            <a:spAutoFit/>
          </a:bodyPr>
          <a:lstStyle/>
          <a:p>
            <a:pPr algn="l">
              <a:defRPr sz="2000" b="1">
                <a:solidFill>
                  <a:srgbClr val="00E676"/>
                </a:solidFill>
                <a:latin typeface="Segoe UI"/>
              </a:defRPr>
            </a:pPr>
            <a:r>
              <a:t>06</a:t>
            </a:r>
          </a:p>
        </p:txBody>
      </p:sp>
      <p:sp>
        <p:nvSpPr>
          <p:cNvPr id="27" name="TextBox 26"/>
          <p:cNvSpPr txBox="1"/>
          <p:nvPr/>
        </p:nvSpPr>
        <p:spPr>
          <a:xfrm>
            <a:off x="1645920" y="4480560"/>
            <a:ext cx="4572000" cy="320040"/>
          </a:xfrm>
          <a:prstGeom prst="rect">
            <a:avLst/>
          </a:prstGeom>
          <a:noFill/>
        </p:spPr>
        <p:txBody>
          <a:bodyPr wrap="square">
            <a:spAutoFit/>
          </a:bodyPr>
          <a:lstStyle/>
          <a:p>
            <a:pPr algn="l">
              <a:defRPr sz="2000" b="1">
                <a:solidFill>
                  <a:srgbClr val="FFFFFF"/>
                </a:solidFill>
                <a:latin typeface="Segoe UI"/>
              </a:defRPr>
            </a:pPr>
            <a:r>
              <a:t>Live Demo: Daily Fetch</a:t>
            </a:r>
          </a:p>
        </p:txBody>
      </p:sp>
      <p:sp>
        <p:nvSpPr>
          <p:cNvPr id="28" name="TextBox 27"/>
          <p:cNvSpPr txBox="1"/>
          <p:nvPr/>
        </p:nvSpPr>
        <p:spPr>
          <a:xfrm>
            <a:off x="1645920" y="4773168"/>
            <a:ext cx="4572000" cy="274320"/>
          </a:xfrm>
          <a:prstGeom prst="rect">
            <a:avLst/>
          </a:prstGeom>
          <a:noFill/>
        </p:spPr>
        <p:txBody>
          <a:bodyPr wrap="square">
            <a:spAutoFit/>
          </a:bodyPr>
          <a:lstStyle/>
          <a:p>
            <a:pPr algn="l">
              <a:defRPr sz="1400" b="0">
                <a:solidFill>
                  <a:srgbClr val="AAAAAA"/>
                </a:solidFill>
                <a:latin typeface="Segoe UI"/>
              </a:defRPr>
            </a:pPr>
            <a:r>
              <a:t>Pipeline, audio, search</a:t>
            </a:r>
          </a:p>
        </p:txBody>
      </p:sp>
      <p:sp>
        <p:nvSpPr>
          <p:cNvPr id="30" name="TextBox 29"/>
          <p:cNvSpPr txBox="1"/>
          <p:nvPr/>
        </p:nvSpPr>
        <p:spPr>
          <a:xfrm>
            <a:off x="914400" y="5120640"/>
            <a:ext cx="548640" cy="457200"/>
          </a:xfrm>
          <a:prstGeom prst="rect">
            <a:avLst/>
          </a:prstGeom>
          <a:noFill/>
        </p:spPr>
        <p:txBody>
          <a:bodyPr wrap="square">
            <a:spAutoFit/>
          </a:bodyPr>
          <a:lstStyle/>
          <a:p>
            <a:pPr algn="l">
              <a:defRPr sz="2000" b="1">
                <a:solidFill>
                  <a:srgbClr val="BB86FC"/>
                </a:solidFill>
                <a:latin typeface="Segoe UI"/>
              </a:defRPr>
            </a:pPr>
            <a:r>
              <a:t>07</a:t>
            </a:r>
          </a:p>
        </p:txBody>
      </p:sp>
      <p:sp>
        <p:nvSpPr>
          <p:cNvPr id="31" name="TextBox 30"/>
          <p:cNvSpPr txBox="1"/>
          <p:nvPr/>
        </p:nvSpPr>
        <p:spPr>
          <a:xfrm>
            <a:off x="1645920" y="5120640"/>
            <a:ext cx="4572000" cy="320040"/>
          </a:xfrm>
          <a:prstGeom prst="rect">
            <a:avLst/>
          </a:prstGeom>
          <a:noFill/>
        </p:spPr>
        <p:txBody>
          <a:bodyPr wrap="square">
            <a:spAutoFit/>
          </a:bodyPr>
          <a:lstStyle/>
          <a:p>
            <a:pPr algn="l">
              <a:defRPr sz="2000" b="1">
                <a:solidFill>
                  <a:srgbClr val="FFFFFF"/>
                </a:solidFill>
                <a:latin typeface="Segoe UI"/>
              </a:defRPr>
            </a:pPr>
            <a:r>
              <a:t>Lessons &amp; Takeaways</a:t>
            </a:r>
          </a:p>
        </p:txBody>
      </p:sp>
      <p:sp>
        <p:nvSpPr>
          <p:cNvPr id="32" name="TextBox 31"/>
          <p:cNvSpPr txBox="1"/>
          <p:nvPr/>
        </p:nvSpPr>
        <p:spPr>
          <a:xfrm>
            <a:off x="1645920" y="5413248"/>
            <a:ext cx="4572000" cy="274320"/>
          </a:xfrm>
          <a:prstGeom prst="rect">
            <a:avLst/>
          </a:prstGeom>
          <a:noFill/>
        </p:spPr>
        <p:txBody>
          <a:bodyPr wrap="square">
            <a:spAutoFit/>
          </a:bodyPr>
          <a:lstStyle/>
          <a:p>
            <a:pPr algn="l">
              <a:defRPr sz="1400" b="0">
                <a:solidFill>
                  <a:srgbClr val="AAAAAA"/>
                </a:solidFill>
                <a:latin typeface="Segoe UI"/>
              </a:defRPr>
            </a:pPr>
            <a:r>
              <a:t>What worked, challenges</a:t>
            </a:r>
          </a:p>
        </p:txBody>
      </p:sp>
      <p:sp>
        <p:nvSpPr>
          <p:cNvPr id="34" name="TextBox 33"/>
          <p:cNvSpPr txBox="1"/>
          <p:nvPr/>
        </p:nvSpPr>
        <p:spPr>
          <a:xfrm>
            <a:off x="914400" y="5760720"/>
            <a:ext cx="548640" cy="457200"/>
          </a:xfrm>
          <a:prstGeom prst="rect">
            <a:avLst/>
          </a:prstGeom>
          <a:noFill/>
        </p:spPr>
        <p:txBody>
          <a:bodyPr wrap="square">
            <a:spAutoFit/>
          </a:bodyPr>
          <a:lstStyle/>
          <a:p>
            <a:pPr algn="l">
              <a:defRPr sz="2000" b="1">
                <a:solidFill>
                  <a:srgbClr val="FF8C00"/>
                </a:solidFill>
                <a:latin typeface="Segoe UI"/>
              </a:defRPr>
            </a:pPr>
            <a:r>
              <a:t>08</a:t>
            </a:r>
          </a:p>
        </p:txBody>
      </p:sp>
      <p:sp>
        <p:nvSpPr>
          <p:cNvPr id="35" name="TextBox 34"/>
          <p:cNvSpPr txBox="1"/>
          <p:nvPr/>
        </p:nvSpPr>
        <p:spPr>
          <a:xfrm>
            <a:off x="1645920" y="5760720"/>
            <a:ext cx="4572000" cy="320040"/>
          </a:xfrm>
          <a:prstGeom prst="rect">
            <a:avLst/>
          </a:prstGeom>
          <a:noFill/>
        </p:spPr>
        <p:txBody>
          <a:bodyPr wrap="square">
            <a:spAutoFit/>
          </a:bodyPr>
          <a:lstStyle/>
          <a:p>
            <a:pPr algn="l">
              <a:defRPr sz="2000" b="1">
                <a:solidFill>
                  <a:srgbClr val="FFFFFF"/>
                </a:solidFill>
                <a:latin typeface="Segoe UI"/>
              </a:defRPr>
            </a:pPr>
            <a:r>
              <a:t>Q &amp; A</a:t>
            </a:r>
          </a:p>
        </p:txBody>
      </p:sp>
      <p:sp>
        <p:nvSpPr>
          <p:cNvPr id="36" name="TextBox 35"/>
          <p:cNvSpPr txBox="1"/>
          <p:nvPr/>
        </p:nvSpPr>
        <p:spPr>
          <a:xfrm>
            <a:off x="1645920" y="6053328"/>
            <a:ext cx="4572000" cy="274320"/>
          </a:xfrm>
          <a:prstGeom prst="rect">
            <a:avLst/>
          </a:prstGeom>
          <a:noFill/>
        </p:spPr>
        <p:txBody>
          <a:bodyPr wrap="square">
            <a:spAutoFit/>
          </a:bodyPr>
          <a:lstStyle/>
          <a:p>
            <a:pPr algn="l">
              <a:defRPr sz="1400" b="0">
                <a:solidFill>
                  <a:srgbClr val="AAAAAA"/>
                </a:solidFill>
                <a:latin typeface="Segoe UI"/>
              </a:defRPr>
            </a:pPr>
            <a:r>
              <a:t>Open discussion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00D4FF"/>
                </a:solidFill>
                <a:latin typeface="Segoe UI"/>
              </a:defRPr>
            </a:pPr>
            <a:r>
              <a:t>What is Jarvis?</a:t>
            </a:r>
          </a:p>
        </p:txBody>
      </p:sp>
      <p:sp>
        <p:nvSpPr>
          <p:cNvPr id="5" name="Rectangle 4"/>
          <p:cNvSpPr/>
          <p:nvPr/>
        </p:nvSpPr>
        <p:spPr>
          <a:xfrm>
            <a:off x="731520" y="822960"/>
            <a:ext cx="182880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88720"/>
            <a:ext cx="5029200" cy="4572000"/>
          </a:xfrm>
          <a:prstGeom prst="rect">
            <a:avLst/>
          </a:prstGeom>
          <a:noFill/>
        </p:spPr>
        <p:txBody>
          <a:bodyPr wrap="square">
            <a:spAutoFit/>
          </a:bodyPr>
          <a:lstStyle/>
          <a:p>
            <a:pPr>
              <a:spcAft>
                <a:spcPts val="600"/>
              </a:spcAft>
              <a:defRPr sz="1800">
                <a:solidFill>
                  <a:srgbClr val="FFFFFF"/>
                </a:solidFill>
                <a:latin typeface="Segoe UI"/>
              </a:defRPr>
            </a:pPr>
            <a:r>
              <a:t>•  AI-powered assistant built for the medavis P4M team</a:t>
            </a:r>
          </a:p>
          <a:p>
            <a:pPr>
              <a:spcAft>
                <a:spcPts val="600"/>
              </a:spcAft>
              <a:defRPr sz="1800">
                <a:solidFill>
                  <a:srgbClr val="FFFFFF"/>
                </a:solidFill>
                <a:latin typeface="Segoe UI"/>
              </a:defRPr>
            </a:pPr>
            <a:r>
              <a:t>•  Runs 100% locally — Ollama + Qdrant on your machine</a:t>
            </a:r>
          </a:p>
          <a:p>
            <a:pPr>
              <a:spcAft>
                <a:spcPts val="600"/>
              </a:spcAft>
              <a:defRPr sz="1800">
                <a:solidFill>
                  <a:srgbClr val="FFFFFF"/>
                </a:solidFill>
                <a:latin typeface="Segoe UI"/>
              </a:defRPr>
            </a:pPr>
            <a:r>
              <a:t>•  18,000+ indexed knowledge chunks from multiple sources</a:t>
            </a:r>
          </a:p>
          <a:p>
            <a:pPr>
              <a:spcAft>
                <a:spcPts val="600"/>
              </a:spcAft>
              <a:defRPr sz="1800">
                <a:solidFill>
                  <a:srgbClr val="FFFFFF"/>
                </a:solidFill>
                <a:latin typeface="Segoe UI"/>
              </a:defRPr>
            </a:pPr>
            <a:r>
              <a:t>•  Retrieves relevant context before every LLM call (Auto-RAG)</a:t>
            </a:r>
          </a:p>
          <a:p>
            <a:pPr>
              <a:spcAft>
                <a:spcPts val="600"/>
              </a:spcAft>
              <a:defRPr sz="1800">
                <a:solidFill>
                  <a:srgbClr val="FFFFFF"/>
                </a:solidFill>
                <a:latin typeface="Segoe UI"/>
              </a:defRPr>
            </a:pPr>
            <a:r>
              <a:t>•  Integrates with Jira, Confluence, Git, codebase analysis</a:t>
            </a:r>
          </a:p>
          <a:p>
            <a:pPr>
              <a:spcAft>
                <a:spcPts val="600"/>
              </a:spcAft>
              <a:defRPr sz="1800">
                <a:solidFill>
                  <a:srgbClr val="FFFFFF"/>
                </a:solidFill>
                <a:latin typeface="Segoe UI"/>
              </a:defRPr>
            </a:pPr>
            <a:r>
              <a:t>•  Daily briefing pipeline: AI news, world news, audio podcasts</a:t>
            </a:r>
          </a:p>
          <a:p>
            <a:pPr>
              <a:spcAft>
                <a:spcPts val="600"/>
              </a:spcAft>
              <a:defRPr sz="1800">
                <a:solidFill>
                  <a:srgbClr val="FFFFFF"/>
                </a:solidFill>
                <a:latin typeface="Segoe UI"/>
              </a:defRPr>
            </a:pPr>
            <a:r>
              <a:t>•  Learning modes: AI, English, AWS certification prep</a:t>
            </a:r>
          </a:p>
        </p:txBody>
      </p:sp>
      <p:sp>
        <p:nvSpPr>
          <p:cNvPr id="7" name="Rounded Rectangle 6"/>
          <p:cNvSpPr/>
          <p:nvPr/>
        </p:nvSpPr>
        <p:spPr>
          <a:xfrm>
            <a:off x="6583680" y="1188720"/>
            <a:ext cx="5029200" cy="45720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1371600"/>
            <a:ext cx="4572000" cy="457200"/>
          </a:xfrm>
          <a:prstGeom prst="rect">
            <a:avLst/>
          </a:prstGeom>
          <a:noFill/>
        </p:spPr>
        <p:txBody>
          <a:bodyPr wrap="square">
            <a:spAutoFit/>
          </a:bodyPr>
          <a:lstStyle/>
          <a:p>
            <a:pPr algn="l">
              <a:defRPr sz="2200" b="1">
                <a:solidFill>
                  <a:srgbClr val="00D4FF"/>
                </a:solidFill>
                <a:latin typeface="Segoe UI"/>
              </a:defRPr>
            </a:pPr>
            <a:r>
              <a:t>Tech Stack</a:t>
            </a:r>
          </a:p>
        </p:txBody>
      </p:sp>
      <p:sp>
        <p:nvSpPr>
          <p:cNvPr id="9" name="TextBox 8"/>
          <p:cNvSpPr txBox="1"/>
          <p:nvPr/>
        </p:nvSpPr>
        <p:spPr>
          <a:xfrm>
            <a:off x="6858000" y="1920240"/>
            <a:ext cx="4572000" cy="3657600"/>
          </a:xfrm>
          <a:prstGeom prst="rect">
            <a:avLst/>
          </a:prstGeom>
          <a:noFill/>
        </p:spPr>
        <p:txBody>
          <a:bodyPr wrap="square">
            <a:spAutoFit/>
          </a:bodyPr>
          <a:lstStyle/>
          <a:p>
            <a:pPr>
              <a:spcAft>
                <a:spcPts val="600"/>
              </a:spcAft>
              <a:defRPr sz="1600">
                <a:solidFill>
                  <a:srgbClr val="CCCCCC"/>
                </a:solidFill>
                <a:latin typeface="Segoe UI"/>
              </a:defRPr>
            </a:pPr>
            <a:r>
              <a:t>▸  LLM: Ollama (qwen3.5:4b, configurable)</a:t>
            </a:r>
          </a:p>
          <a:p>
            <a:pPr>
              <a:spcAft>
                <a:spcPts val="600"/>
              </a:spcAft>
              <a:defRPr sz="1600">
                <a:solidFill>
                  <a:srgbClr val="CCCCCC"/>
                </a:solidFill>
                <a:latin typeface="Segoe UI"/>
              </a:defRPr>
            </a:pPr>
            <a:r>
              <a:t>▸  Embeddings: all-MiniLM-L6-v2 (384-dim)</a:t>
            </a:r>
          </a:p>
          <a:p>
            <a:pPr>
              <a:spcAft>
                <a:spcPts val="600"/>
              </a:spcAft>
              <a:defRPr sz="1600">
                <a:solidFill>
                  <a:srgbClr val="CCCCCC"/>
                </a:solidFill>
                <a:latin typeface="Segoe UI"/>
              </a:defRPr>
            </a:pPr>
            <a:r>
              <a:t>▸  Vector DB: Qdrant (in-memory, snapshot to disk)</a:t>
            </a:r>
          </a:p>
          <a:p>
            <a:pPr>
              <a:spcAft>
                <a:spcPts val="600"/>
              </a:spcAft>
              <a:defRPr sz="1600">
                <a:solidFill>
                  <a:srgbClr val="CCCCCC"/>
                </a:solidFill>
                <a:latin typeface="Segoe UI"/>
              </a:defRPr>
            </a:pPr>
            <a:r>
              <a:t>▸  Backend: Python / Flask / SSE streaming</a:t>
            </a:r>
          </a:p>
          <a:p>
            <a:pPr>
              <a:spcAft>
                <a:spcPts val="600"/>
              </a:spcAft>
              <a:defRPr sz="1600">
                <a:solidFill>
                  <a:srgbClr val="CCCCCC"/>
                </a:solidFill>
                <a:latin typeface="Segoe UI"/>
              </a:defRPr>
            </a:pPr>
            <a:r>
              <a:t>▸  Tools: PowerShell + Python subprocesses</a:t>
            </a:r>
          </a:p>
          <a:p>
            <a:pPr>
              <a:spcAft>
                <a:spcPts val="600"/>
              </a:spcAft>
              <a:defRPr sz="1600">
                <a:solidFill>
                  <a:srgbClr val="CCCCCC"/>
                </a:solidFill>
                <a:latin typeface="Segoe UI"/>
              </a:defRPr>
            </a:pPr>
            <a:r>
              <a:t>▸  TTS: Microsoft Edge TTS (multi-language)</a:t>
            </a:r>
          </a:p>
          <a:p>
            <a:pPr>
              <a:spcAft>
                <a:spcPts val="600"/>
              </a:spcAft>
              <a:defRPr sz="1600">
                <a:solidFill>
                  <a:srgbClr val="CCCCCC"/>
                </a:solidFill>
                <a:latin typeface="Segoe UI"/>
              </a:defRPr>
            </a:pPr>
            <a:r>
              <a:t>▸  Frontend: Vanilla HTML/JS chat UI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00E676"/>
                </a:solidFill>
                <a:latin typeface="Segoe UI"/>
              </a:defRPr>
            </a:pPr>
            <a:r>
              <a:t>RAG 101: The Problem LLMs Have</a:t>
            </a:r>
          </a:p>
        </p:txBody>
      </p:sp>
      <p:sp>
        <p:nvSpPr>
          <p:cNvPr id="5" name="Rectangle 4"/>
          <p:cNvSpPr/>
          <p:nvPr/>
        </p:nvSpPr>
        <p:spPr>
          <a:xfrm>
            <a:off x="731520" y="822960"/>
            <a:ext cx="274320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280160"/>
            <a:ext cx="5029200" cy="22860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463040"/>
            <a:ext cx="4572000" cy="457200"/>
          </a:xfrm>
          <a:prstGeom prst="rect">
            <a:avLst/>
          </a:prstGeom>
          <a:noFill/>
        </p:spPr>
        <p:txBody>
          <a:bodyPr wrap="square">
            <a:spAutoFit/>
          </a:bodyPr>
          <a:lstStyle/>
          <a:p>
            <a:pPr algn="l">
              <a:defRPr sz="2200" b="1">
                <a:solidFill>
                  <a:srgbClr val="FF8C00"/>
                </a:solidFill>
                <a:latin typeface="Segoe UI"/>
              </a:defRPr>
            </a:pPr>
            <a:r>
              <a:t>LLM Alone</a:t>
            </a:r>
          </a:p>
        </p:txBody>
      </p:sp>
      <p:sp>
        <p:nvSpPr>
          <p:cNvPr id="8" name="TextBox 7"/>
          <p:cNvSpPr txBox="1"/>
          <p:nvPr/>
        </p:nvSpPr>
        <p:spPr>
          <a:xfrm>
            <a:off x="1005840" y="2011680"/>
            <a:ext cx="4572000" cy="1371600"/>
          </a:xfrm>
          <a:prstGeom prst="rect">
            <a:avLst/>
          </a:prstGeom>
          <a:noFill/>
        </p:spPr>
        <p:txBody>
          <a:bodyPr wrap="square">
            <a:spAutoFit/>
          </a:bodyPr>
          <a:lstStyle/>
          <a:p>
            <a:pPr>
              <a:spcAft>
                <a:spcPts val="600"/>
              </a:spcAft>
              <a:defRPr sz="1600">
                <a:solidFill>
                  <a:srgbClr val="CCCCCC"/>
                </a:solidFill>
                <a:latin typeface="Segoe UI"/>
              </a:defRPr>
            </a:pPr>
            <a:r>
              <a:t>✗  Knowledge frozen at training cutoff</a:t>
            </a:r>
          </a:p>
          <a:p>
            <a:pPr>
              <a:spcAft>
                <a:spcPts val="600"/>
              </a:spcAft>
              <a:defRPr sz="1600">
                <a:solidFill>
                  <a:srgbClr val="CCCCCC"/>
                </a:solidFill>
                <a:latin typeface="Segoe UI"/>
              </a:defRPr>
            </a:pPr>
            <a:r>
              <a:t>✗  No access to your company data</a:t>
            </a:r>
          </a:p>
          <a:p>
            <a:pPr>
              <a:spcAft>
                <a:spcPts val="600"/>
              </a:spcAft>
              <a:defRPr sz="1600">
                <a:solidFill>
                  <a:srgbClr val="CCCCCC"/>
                </a:solidFill>
                <a:latin typeface="Segoe UI"/>
              </a:defRPr>
            </a:pPr>
            <a:r>
              <a:t>✗  Hallucinations on domain-specific questions</a:t>
            </a:r>
          </a:p>
          <a:p>
            <a:pPr>
              <a:spcAft>
                <a:spcPts val="600"/>
              </a:spcAft>
              <a:defRPr sz="1600">
                <a:solidFill>
                  <a:srgbClr val="CCCCCC"/>
                </a:solidFill>
                <a:latin typeface="Segoe UI"/>
              </a:defRPr>
            </a:pPr>
            <a:r>
              <a:t>✗  Generic answers, not grounded in facts</a:t>
            </a:r>
          </a:p>
        </p:txBody>
      </p:sp>
      <p:sp>
        <p:nvSpPr>
          <p:cNvPr id="9" name="Rounded Rectangle 8"/>
          <p:cNvSpPr/>
          <p:nvPr/>
        </p:nvSpPr>
        <p:spPr>
          <a:xfrm>
            <a:off x="6400800" y="1280160"/>
            <a:ext cx="5029200" cy="228600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463040"/>
            <a:ext cx="4572000" cy="457200"/>
          </a:xfrm>
          <a:prstGeom prst="rect">
            <a:avLst/>
          </a:prstGeom>
          <a:noFill/>
        </p:spPr>
        <p:txBody>
          <a:bodyPr wrap="square">
            <a:spAutoFit/>
          </a:bodyPr>
          <a:lstStyle/>
          <a:p>
            <a:pPr algn="l">
              <a:defRPr sz="2200" b="1">
                <a:solidFill>
                  <a:srgbClr val="00E676"/>
                </a:solidFill>
                <a:latin typeface="Segoe UI"/>
              </a:defRPr>
            </a:pPr>
            <a:r>
              <a:t>LLM + RAG</a:t>
            </a:r>
          </a:p>
        </p:txBody>
      </p:sp>
      <p:sp>
        <p:nvSpPr>
          <p:cNvPr id="11" name="TextBox 10"/>
          <p:cNvSpPr txBox="1"/>
          <p:nvPr/>
        </p:nvSpPr>
        <p:spPr>
          <a:xfrm>
            <a:off x="6675120" y="2011680"/>
            <a:ext cx="4572000" cy="1371600"/>
          </a:xfrm>
          <a:prstGeom prst="rect">
            <a:avLst/>
          </a:prstGeom>
          <a:noFill/>
        </p:spPr>
        <p:txBody>
          <a:bodyPr wrap="square">
            <a:spAutoFit/>
          </a:bodyPr>
          <a:lstStyle/>
          <a:p>
            <a:pPr>
              <a:spcAft>
                <a:spcPts val="600"/>
              </a:spcAft>
              <a:defRPr sz="1600">
                <a:solidFill>
                  <a:srgbClr val="CCCCCC"/>
                </a:solidFill>
                <a:latin typeface="Segoe UI"/>
              </a:defRPr>
            </a:pPr>
            <a:r>
              <a:t>✓  Always up-to-date with your knowledge base</a:t>
            </a:r>
          </a:p>
          <a:p>
            <a:pPr>
              <a:spcAft>
                <a:spcPts val="600"/>
              </a:spcAft>
              <a:defRPr sz="1600">
                <a:solidFill>
                  <a:srgbClr val="CCCCCC"/>
                </a:solidFill>
                <a:latin typeface="Segoe UI"/>
              </a:defRPr>
            </a:pPr>
            <a:r>
              <a:t>✓  Grounded answers with source citations</a:t>
            </a:r>
          </a:p>
          <a:p>
            <a:pPr>
              <a:spcAft>
                <a:spcPts val="600"/>
              </a:spcAft>
              <a:defRPr sz="1600">
                <a:solidFill>
                  <a:srgbClr val="CCCCCC"/>
                </a:solidFill>
                <a:latin typeface="Segoe UI"/>
              </a:defRPr>
            </a:pPr>
            <a:r>
              <a:t>✓  Reduced hallucinations via evidence</a:t>
            </a:r>
          </a:p>
          <a:p>
            <a:pPr>
              <a:spcAft>
                <a:spcPts val="600"/>
              </a:spcAft>
              <a:defRPr sz="1600">
                <a:solidFill>
                  <a:srgbClr val="CCCCCC"/>
                </a:solidFill>
                <a:latin typeface="Segoe UI"/>
              </a:defRPr>
            </a:pPr>
            <a:r>
              <a:t>✓  Domain-specific, accurate responses</a:t>
            </a:r>
          </a:p>
        </p:txBody>
      </p:sp>
      <p:sp>
        <p:nvSpPr>
          <p:cNvPr id="12" name="TextBox 11"/>
          <p:cNvSpPr txBox="1"/>
          <p:nvPr/>
        </p:nvSpPr>
        <p:spPr>
          <a:xfrm>
            <a:off x="731520" y="4023360"/>
            <a:ext cx="10972800" cy="548640"/>
          </a:xfrm>
          <a:prstGeom prst="rect">
            <a:avLst/>
          </a:prstGeom>
          <a:noFill/>
        </p:spPr>
        <p:txBody>
          <a:bodyPr wrap="square">
            <a:spAutoFit/>
          </a:bodyPr>
          <a:lstStyle/>
          <a:p>
            <a:pPr algn="l">
              <a:defRPr sz="2800" b="1">
                <a:solidFill>
                  <a:srgbClr val="FFFFFF"/>
                </a:solidFill>
                <a:latin typeface="Segoe UI"/>
              </a:defRPr>
            </a:pPr>
            <a:r>
              <a:t>RAG = Retrieval-Augmented Generation</a:t>
            </a:r>
          </a:p>
        </p:txBody>
      </p:sp>
      <p:sp>
        <p:nvSpPr>
          <p:cNvPr id="13" name="TextBox 12"/>
          <p:cNvSpPr txBox="1"/>
          <p:nvPr/>
        </p:nvSpPr>
        <p:spPr>
          <a:xfrm>
            <a:off x="731520" y="4663440"/>
            <a:ext cx="10972800" cy="731520"/>
          </a:xfrm>
          <a:prstGeom prst="rect">
            <a:avLst/>
          </a:prstGeom>
          <a:noFill/>
        </p:spPr>
        <p:txBody>
          <a:bodyPr wrap="square">
            <a:spAutoFit/>
          </a:bodyPr>
          <a:lstStyle/>
          <a:p>
            <a:pPr algn="l">
              <a:defRPr sz="2200" b="0">
                <a:solidFill>
                  <a:srgbClr val="AAAAAA"/>
                </a:solidFill>
                <a:latin typeface="Segoe UI"/>
              </a:defRPr>
            </a:pPr>
            <a:r>
              <a:t>"Don't just think — look it up first, then answer."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00E676"/>
                </a:solidFill>
                <a:latin typeface="Segoe UI"/>
              </a:defRPr>
            </a:pPr>
            <a:r>
              <a:t>RAG 101: How It Works</a:t>
            </a:r>
          </a:p>
        </p:txBody>
      </p:sp>
      <p:sp>
        <p:nvSpPr>
          <p:cNvPr id="5" name="Rectangle 4"/>
          <p:cNvSpPr/>
          <p:nvPr/>
        </p:nvSpPr>
        <p:spPr>
          <a:xfrm>
            <a:off x="731520" y="822960"/>
            <a:ext cx="182880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371600"/>
            <a:ext cx="2651760" cy="32004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554480"/>
            <a:ext cx="2286000" cy="457200"/>
          </a:xfrm>
          <a:prstGeom prst="rect">
            <a:avLst/>
          </a:prstGeom>
          <a:noFill/>
        </p:spPr>
        <p:txBody>
          <a:bodyPr wrap="square">
            <a:spAutoFit/>
          </a:bodyPr>
          <a:lstStyle/>
          <a:p>
            <a:pPr algn="ctr">
              <a:defRPr sz="3600" b="1">
                <a:solidFill>
                  <a:srgbClr val="00D4FF"/>
                </a:solidFill>
                <a:latin typeface="Segoe UI"/>
              </a:defRPr>
            </a:pPr>
            <a:r>
              <a:t>1</a:t>
            </a:r>
          </a:p>
        </p:txBody>
      </p:sp>
      <p:sp>
        <p:nvSpPr>
          <p:cNvPr id="8" name="TextBox 7"/>
          <p:cNvSpPr txBox="1"/>
          <p:nvPr/>
        </p:nvSpPr>
        <p:spPr>
          <a:xfrm>
            <a:off x="640080" y="2103120"/>
            <a:ext cx="2286000" cy="457200"/>
          </a:xfrm>
          <a:prstGeom prst="rect">
            <a:avLst/>
          </a:prstGeom>
          <a:noFill/>
        </p:spPr>
        <p:txBody>
          <a:bodyPr wrap="square">
            <a:spAutoFit/>
          </a:bodyPr>
          <a:lstStyle/>
          <a:p>
            <a:pPr algn="ctr">
              <a:defRPr sz="2200" b="1">
                <a:solidFill>
                  <a:srgbClr val="FFFFFF"/>
                </a:solidFill>
                <a:latin typeface="Segoe UI"/>
              </a:defRPr>
            </a:pPr>
            <a:r>
              <a:t>INDEX</a:t>
            </a:r>
          </a:p>
        </p:txBody>
      </p:sp>
      <p:sp>
        <p:nvSpPr>
          <p:cNvPr id="9" name="TextBox 8"/>
          <p:cNvSpPr txBox="1"/>
          <p:nvPr/>
        </p:nvSpPr>
        <p:spPr>
          <a:xfrm>
            <a:off x="640080" y="2743200"/>
            <a:ext cx="2286000" cy="1371600"/>
          </a:xfrm>
          <a:prstGeom prst="rect">
            <a:avLst/>
          </a:prstGeom>
          <a:noFill/>
        </p:spPr>
        <p:txBody>
          <a:bodyPr wrap="square">
            <a:spAutoFit/>
          </a:bodyPr>
          <a:lstStyle/>
          <a:p>
            <a:pPr algn="ctr">
              <a:defRPr sz="1600" b="0">
                <a:solidFill>
                  <a:srgbClr val="CCCCCC"/>
                </a:solidFill>
                <a:latin typeface="Segoe UI"/>
              </a:defRPr>
            </a:pPr>
            <a:r>
              <a:t>Documents → chunks →</a:t>
            </a:r>
            <a:br/>
            <a:r>
              <a:t>embeddings → vector DB</a:t>
            </a:r>
          </a:p>
        </p:txBody>
      </p:sp>
      <p:sp>
        <p:nvSpPr>
          <p:cNvPr id="10" name="Rounded Rectangle 9"/>
          <p:cNvSpPr/>
          <p:nvPr/>
        </p:nvSpPr>
        <p:spPr>
          <a:xfrm>
            <a:off x="3383280" y="1371600"/>
            <a:ext cx="2651760" cy="320040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66160" y="1554480"/>
            <a:ext cx="2286000" cy="457200"/>
          </a:xfrm>
          <a:prstGeom prst="rect">
            <a:avLst/>
          </a:prstGeom>
          <a:noFill/>
        </p:spPr>
        <p:txBody>
          <a:bodyPr wrap="square">
            <a:spAutoFit/>
          </a:bodyPr>
          <a:lstStyle/>
          <a:p>
            <a:pPr algn="ctr">
              <a:defRPr sz="3600" b="1">
                <a:solidFill>
                  <a:srgbClr val="00E676"/>
                </a:solidFill>
                <a:latin typeface="Segoe UI"/>
              </a:defRPr>
            </a:pPr>
            <a:r>
              <a:t>2</a:t>
            </a:r>
          </a:p>
        </p:txBody>
      </p:sp>
      <p:sp>
        <p:nvSpPr>
          <p:cNvPr id="12" name="TextBox 11"/>
          <p:cNvSpPr txBox="1"/>
          <p:nvPr/>
        </p:nvSpPr>
        <p:spPr>
          <a:xfrm>
            <a:off x="3566160" y="2103120"/>
            <a:ext cx="2286000" cy="457200"/>
          </a:xfrm>
          <a:prstGeom prst="rect">
            <a:avLst/>
          </a:prstGeom>
          <a:noFill/>
        </p:spPr>
        <p:txBody>
          <a:bodyPr wrap="square">
            <a:spAutoFit/>
          </a:bodyPr>
          <a:lstStyle/>
          <a:p>
            <a:pPr algn="ctr">
              <a:defRPr sz="2200" b="1">
                <a:solidFill>
                  <a:srgbClr val="FFFFFF"/>
                </a:solidFill>
                <a:latin typeface="Segoe UI"/>
              </a:defRPr>
            </a:pPr>
            <a:r>
              <a:t>RETRIEVE</a:t>
            </a:r>
          </a:p>
        </p:txBody>
      </p:sp>
      <p:sp>
        <p:nvSpPr>
          <p:cNvPr id="13" name="TextBox 12"/>
          <p:cNvSpPr txBox="1"/>
          <p:nvPr/>
        </p:nvSpPr>
        <p:spPr>
          <a:xfrm>
            <a:off x="3566160" y="2743200"/>
            <a:ext cx="2286000" cy="1371600"/>
          </a:xfrm>
          <a:prstGeom prst="rect">
            <a:avLst/>
          </a:prstGeom>
          <a:noFill/>
        </p:spPr>
        <p:txBody>
          <a:bodyPr wrap="square">
            <a:spAutoFit/>
          </a:bodyPr>
          <a:lstStyle/>
          <a:p>
            <a:pPr algn="ctr">
              <a:defRPr sz="1600" b="0">
                <a:solidFill>
                  <a:srgbClr val="CCCCCC"/>
                </a:solidFill>
                <a:latin typeface="Segoe UI"/>
              </a:defRPr>
            </a:pPr>
            <a:r>
              <a:t>User query → embed →</a:t>
            </a:r>
            <a:br/>
            <a:r>
              <a:t>similarity search → top-K</a:t>
            </a:r>
          </a:p>
        </p:txBody>
      </p:sp>
      <p:sp>
        <p:nvSpPr>
          <p:cNvPr id="14" name="Rounded Rectangle 13"/>
          <p:cNvSpPr/>
          <p:nvPr/>
        </p:nvSpPr>
        <p:spPr>
          <a:xfrm>
            <a:off x="6309360" y="1371600"/>
            <a:ext cx="2651760" cy="32004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1554480"/>
            <a:ext cx="2286000" cy="457200"/>
          </a:xfrm>
          <a:prstGeom prst="rect">
            <a:avLst/>
          </a:prstGeom>
          <a:noFill/>
        </p:spPr>
        <p:txBody>
          <a:bodyPr wrap="square">
            <a:spAutoFit/>
          </a:bodyPr>
          <a:lstStyle/>
          <a:p>
            <a:pPr algn="ctr">
              <a:defRPr sz="3600" b="1">
                <a:solidFill>
                  <a:srgbClr val="FF8C00"/>
                </a:solidFill>
                <a:latin typeface="Segoe UI"/>
              </a:defRPr>
            </a:pPr>
            <a:r>
              <a:t>3</a:t>
            </a:r>
          </a:p>
        </p:txBody>
      </p:sp>
      <p:sp>
        <p:nvSpPr>
          <p:cNvPr id="16" name="TextBox 15"/>
          <p:cNvSpPr txBox="1"/>
          <p:nvPr/>
        </p:nvSpPr>
        <p:spPr>
          <a:xfrm>
            <a:off x="6492240" y="2103120"/>
            <a:ext cx="2286000" cy="457200"/>
          </a:xfrm>
          <a:prstGeom prst="rect">
            <a:avLst/>
          </a:prstGeom>
          <a:noFill/>
        </p:spPr>
        <p:txBody>
          <a:bodyPr wrap="square">
            <a:spAutoFit/>
          </a:bodyPr>
          <a:lstStyle/>
          <a:p>
            <a:pPr algn="ctr">
              <a:defRPr sz="2200" b="1">
                <a:solidFill>
                  <a:srgbClr val="FFFFFF"/>
                </a:solidFill>
                <a:latin typeface="Segoe UI"/>
              </a:defRPr>
            </a:pPr>
            <a:r>
              <a:t>AUGMENT</a:t>
            </a:r>
          </a:p>
        </p:txBody>
      </p:sp>
      <p:sp>
        <p:nvSpPr>
          <p:cNvPr id="17" name="TextBox 16"/>
          <p:cNvSpPr txBox="1"/>
          <p:nvPr/>
        </p:nvSpPr>
        <p:spPr>
          <a:xfrm>
            <a:off x="6492240" y="2743200"/>
            <a:ext cx="2286000" cy="1371600"/>
          </a:xfrm>
          <a:prstGeom prst="rect">
            <a:avLst/>
          </a:prstGeom>
          <a:noFill/>
        </p:spPr>
        <p:txBody>
          <a:bodyPr wrap="square">
            <a:spAutoFit/>
          </a:bodyPr>
          <a:lstStyle/>
          <a:p>
            <a:pPr algn="ctr">
              <a:defRPr sz="1600" b="0">
                <a:solidFill>
                  <a:srgbClr val="CCCCCC"/>
                </a:solidFill>
                <a:latin typeface="Segoe UI"/>
              </a:defRPr>
            </a:pPr>
            <a:r>
              <a:t>Inject retrieved chunks</a:t>
            </a:r>
            <a:br/>
            <a:r>
              <a:t>into LLM prompt context</a:t>
            </a:r>
          </a:p>
        </p:txBody>
      </p:sp>
      <p:sp>
        <p:nvSpPr>
          <p:cNvPr id="18" name="Rounded Rectangle 17"/>
          <p:cNvSpPr/>
          <p:nvPr/>
        </p:nvSpPr>
        <p:spPr>
          <a:xfrm>
            <a:off x="9235440" y="1371600"/>
            <a:ext cx="2651760" cy="3200400"/>
          </a:xfrm>
          <a:prstGeom prst="roundRect">
            <a:avLst/>
          </a:prstGeom>
          <a:solidFill>
            <a:srgbClr val="16213E"/>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18320" y="1554480"/>
            <a:ext cx="2286000" cy="457200"/>
          </a:xfrm>
          <a:prstGeom prst="rect">
            <a:avLst/>
          </a:prstGeom>
          <a:noFill/>
        </p:spPr>
        <p:txBody>
          <a:bodyPr wrap="square">
            <a:spAutoFit/>
          </a:bodyPr>
          <a:lstStyle/>
          <a:p>
            <a:pPr algn="ctr">
              <a:defRPr sz="3600" b="1">
                <a:solidFill>
                  <a:srgbClr val="BB86FC"/>
                </a:solidFill>
                <a:latin typeface="Segoe UI"/>
              </a:defRPr>
            </a:pPr>
            <a:r>
              <a:t>4</a:t>
            </a:r>
          </a:p>
        </p:txBody>
      </p:sp>
      <p:sp>
        <p:nvSpPr>
          <p:cNvPr id="20" name="TextBox 19"/>
          <p:cNvSpPr txBox="1"/>
          <p:nvPr/>
        </p:nvSpPr>
        <p:spPr>
          <a:xfrm>
            <a:off x="9418320" y="2103120"/>
            <a:ext cx="2286000" cy="457200"/>
          </a:xfrm>
          <a:prstGeom prst="rect">
            <a:avLst/>
          </a:prstGeom>
          <a:noFill/>
        </p:spPr>
        <p:txBody>
          <a:bodyPr wrap="square">
            <a:spAutoFit/>
          </a:bodyPr>
          <a:lstStyle/>
          <a:p>
            <a:pPr algn="ctr">
              <a:defRPr sz="2200" b="1">
                <a:solidFill>
                  <a:srgbClr val="FFFFFF"/>
                </a:solidFill>
                <a:latin typeface="Segoe UI"/>
              </a:defRPr>
            </a:pPr>
            <a:r>
              <a:t>GENERATE</a:t>
            </a:r>
          </a:p>
        </p:txBody>
      </p:sp>
      <p:sp>
        <p:nvSpPr>
          <p:cNvPr id="21" name="TextBox 20"/>
          <p:cNvSpPr txBox="1"/>
          <p:nvPr/>
        </p:nvSpPr>
        <p:spPr>
          <a:xfrm>
            <a:off x="9418320" y="2743200"/>
            <a:ext cx="2286000" cy="1371600"/>
          </a:xfrm>
          <a:prstGeom prst="rect">
            <a:avLst/>
          </a:prstGeom>
          <a:noFill/>
        </p:spPr>
        <p:txBody>
          <a:bodyPr wrap="square">
            <a:spAutoFit/>
          </a:bodyPr>
          <a:lstStyle/>
          <a:p>
            <a:pPr algn="ctr">
              <a:defRPr sz="1600" b="0">
                <a:solidFill>
                  <a:srgbClr val="CCCCCC"/>
                </a:solidFill>
                <a:latin typeface="Segoe UI"/>
              </a:defRPr>
            </a:pPr>
            <a:r>
              <a:t>LLM produces answer</a:t>
            </a:r>
            <a:br/>
            <a:r>
              <a:t>grounded in real data</a:t>
            </a:r>
          </a:p>
        </p:txBody>
      </p:sp>
      <p:sp>
        <p:nvSpPr>
          <p:cNvPr id="22" name="TextBox 21"/>
          <p:cNvSpPr txBox="1"/>
          <p:nvPr/>
        </p:nvSpPr>
        <p:spPr>
          <a:xfrm>
            <a:off x="731520" y="5029200"/>
            <a:ext cx="10972800" cy="731520"/>
          </a:xfrm>
          <a:prstGeom prst="rect">
            <a:avLst/>
          </a:prstGeom>
          <a:noFill/>
        </p:spPr>
        <p:txBody>
          <a:bodyPr wrap="square">
            <a:spAutoFit/>
          </a:bodyPr>
          <a:lstStyle/>
          <a:p>
            <a:pPr algn="l">
              <a:defRPr sz="1800" b="0">
                <a:solidFill>
                  <a:srgbClr val="AAAAAA"/>
                </a:solidFill>
                <a:latin typeface="Segoe UI"/>
              </a:defRPr>
            </a:pPr>
            <a:r>
              <a:t>Key insight: The LLM never answers from memory alone — it always has evidence to reference.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00E676"/>
                </a:solidFill>
                <a:latin typeface="Segoe UI"/>
              </a:defRPr>
            </a:pPr>
            <a:r>
              <a:t>RAG Key Concepts (You Already Know LLM)</a:t>
            </a:r>
          </a:p>
        </p:txBody>
      </p:sp>
      <p:sp>
        <p:nvSpPr>
          <p:cNvPr id="5" name="Rectangle 4"/>
          <p:cNvSpPr/>
          <p:nvPr/>
        </p:nvSpPr>
        <p:spPr>
          <a:xfrm>
            <a:off x="731520" y="822960"/>
            <a:ext cx="274320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371600"/>
            <a:ext cx="2697480" cy="32004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554480"/>
            <a:ext cx="2286000" cy="457200"/>
          </a:xfrm>
          <a:prstGeom prst="rect">
            <a:avLst/>
          </a:prstGeom>
          <a:noFill/>
        </p:spPr>
        <p:txBody>
          <a:bodyPr wrap="square">
            <a:spAutoFit/>
          </a:bodyPr>
          <a:lstStyle/>
          <a:p>
            <a:pPr algn="ctr">
              <a:defRPr sz="2200" b="1">
                <a:solidFill>
                  <a:srgbClr val="00D4FF"/>
                </a:solidFill>
                <a:latin typeface="Segoe UI"/>
              </a:defRPr>
            </a:pPr>
            <a:r>
              <a:t>Embeddings</a:t>
            </a:r>
          </a:p>
        </p:txBody>
      </p:sp>
      <p:sp>
        <p:nvSpPr>
          <p:cNvPr id="8" name="Rectangle 7"/>
          <p:cNvSpPr/>
          <p:nvPr/>
        </p:nvSpPr>
        <p:spPr>
          <a:xfrm>
            <a:off x="1097280" y="2103120"/>
            <a:ext cx="1188720" cy="2743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286000"/>
            <a:ext cx="2286000" cy="2286000"/>
          </a:xfrm>
          <a:prstGeom prst="rect">
            <a:avLst/>
          </a:prstGeom>
          <a:noFill/>
        </p:spPr>
        <p:txBody>
          <a:bodyPr wrap="square">
            <a:spAutoFit/>
          </a:bodyPr>
          <a:lstStyle/>
          <a:p>
            <a:pPr algn="ctr">
              <a:defRPr sz="1500" b="0">
                <a:solidFill>
                  <a:srgbClr val="CCCCCC"/>
                </a:solidFill>
                <a:latin typeface="Segoe UI"/>
              </a:defRPr>
            </a:pPr>
            <a:r>
              <a:t>Convert text to 384-dim vectors</a:t>
            </a:r>
            <a:br/>
            <a:r>
              <a:t>that capture semantic meaning.</a:t>
            </a:r>
            <a:br/>
            <a:r>
              <a:t>Similar meaning = close vectors.</a:t>
            </a:r>
          </a:p>
        </p:txBody>
      </p:sp>
      <p:sp>
        <p:nvSpPr>
          <p:cNvPr id="10" name="Rounded Rectangle 9"/>
          <p:cNvSpPr/>
          <p:nvPr/>
        </p:nvSpPr>
        <p:spPr>
          <a:xfrm>
            <a:off x="3246120" y="1371600"/>
            <a:ext cx="2697480" cy="320040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29000" y="1554480"/>
            <a:ext cx="2286000" cy="457200"/>
          </a:xfrm>
          <a:prstGeom prst="rect">
            <a:avLst/>
          </a:prstGeom>
          <a:noFill/>
        </p:spPr>
        <p:txBody>
          <a:bodyPr wrap="square">
            <a:spAutoFit/>
          </a:bodyPr>
          <a:lstStyle/>
          <a:p>
            <a:pPr algn="ctr">
              <a:defRPr sz="2200" b="1">
                <a:solidFill>
                  <a:srgbClr val="00E676"/>
                </a:solidFill>
                <a:latin typeface="Segoe UI"/>
              </a:defRPr>
            </a:pPr>
            <a:r>
              <a:t>Vector Search</a:t>
            </a:r>
          </a:p>
        </p:txBody>
      </p:sp>
      <p:sp>
        <p:nvSpPr>
          <p:cNvPr id="12" name="Rectangle 11"/>
          <p:cNvSpPr/>
          <p:nvPr/>
        </p:nvSpPr>
        <p:spPr>
          <a:xfrm>
            <a:off x="3977639" y="2103120"/>
            <a:ext cx="1188720" cy="27432"/>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2286000"/>
            <a:ext cx="2286000" cy="2286000"/>
          </a:xfrm>
          <a:prstGeom prst="rect">
            <a:avLst/>
          </a:prstGeom>
          <a:noFill/>
        </p:spPr>
        <p:txBody>
          <a:bodyPr wrap="square">
            <a:spAutoFit/>
          </a:bodyPr>
          <a:lstStyle/>
          <a:p>
            <a:pPr algn="ctr">
              <a:defRPr sz="1500" b="0">
                <a:solidFill>
                  <a:srgbClr val="CCCCCC"/>
                </a:solidFill>
                <a:latin typeface="Segoe UI"/>
              </a:defRPr>
            </a:pPr>
            <a:r>
              <a:t>Find the most similar chunks</a:t>
            </a:r>
            <a:br/>
            <a:r>
              <a:t>by cosine similarity.</a:t>
            </a:r>
            <a:br/>
            <a:r>
              <a:t>Fast even with 18K+ chunks.</a:t>
            </a:r>
          </a:p>
        </p:txBody>
      </p:sp>
      <p:sp>
        <p:nvSpPr>
          <p:cNvPr id="14" name="Rounded Rectangle 13"/>
          <p:cNvSpPr/>
          <p:nvPr/>
        </p:nvSpPr>
        <p:spPr>
          <a:xfrm>
            <a:off x="6126479" y="1371600"/>
            <a:ext cx="2697480" cy="32004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59" y="1554480"/>
            <a:ext cx="2286000" cy="457200"/>
          </a:xfrm>
          <a:prstGeom prst="rect">
            <a:avLst/>
          </a:prstGeom>
          <a:noFill/>
        </p:spPr>
        <p:txBody>
          <a:bodyPr wrap="square">
            <a:spAutoFit/>
          </a:bodyPr>
          <a:lstStyle/>
          <a:p>
            <a:pPr algn="ctr">
              <a:defRPr sz="2200" b="1">
                <a:solidFill>
                  <a:srgbClr val="FF8C00"/>
                </a:solidFill>
                <a:latin typeface="Segoe UI"/>
              </a:defRPr>
            </a:pPr>
            <a:r>
              <a:t>Hybrid Search</a:t>
            </a:r>
          </a:p>
        </p:txBody>
      </p:sp>
      <p:sp>
        <p:nvSpPr>
          <p:cNvPr id="16" name="Rectangle 15"/>
          <p:cNvSpPr/>
          <p:nvPr/>
        </p:nvSpPr>
        <p:spPr>
          <a:xfrm>
            <a:off x="6857999" y="2103120"/>
            <a:ext cx="1188720" cy="2743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2286000"/>
            <a:ext cx="2286000" cy="2286000"/>
          </a:xfrm>
          <a:prstGeom prst="rect">
            <a:avLst/>
          </a:prstGeom>
          <a:noFill/>
        </p:spPr>
        <p:txBody>
          <a:bodyPr wrap="square">
            <a:spAutoFit/>
          </a:bodyPr>
          <a:lstStyle/>
          <a:p>
            <a:pPr algn="ctr">
              <a:defRPr sz="1500" b="0">
                <a:solidFill>
                  <a:srgbClr val="CCCCCC"/>
                </a:solidFill>
                <a:latin typeface="Segoe UI"/>
              </a:defRPr>
            </a:pPr>
            <a:r>
              <a:t>Combine vector (semantic) +</a:t>
            </a:r>
            <a:br/>
            <a:r>
              <a:t>BM25 (keyword) search.</a:t>
            </a:r>
            <a:br/>
            <a:r>
              <a:t>RRF fusion for best of both.</a:t>
            </a:r>
          </a:p>
        </p:txBody>
      </p:sp>
      <p:sp>
        <p:nvSpPr>
          <p:cNvPr id="18" name="Rounded Rectangle 17"/>
          <p:cNvSpPr/>
          <p:nvPr/>
        </p:nvSpPr>
        <p:spPr>
          <a:xfrm>
            <a:off x="9006840" y="1371600"/>
            <a:ext cx="2697480" cy="3200400"/>
          </a:xfrm>
          <a:prstGeom prst="roundRect">
            <a:avLst/>
          </a:prstGeom>
          <a:solidFill>
            <a:srgbClr val="16213E"/>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89719" y="1554480"/>
            <a:ext cx="2286000" cy="457200"/>
          </a:xfrm>
          <a:prstGeom prst="rect">
            <a:avLst/>
          </a:prstGeom>
          <a:noFill/>
        </p:spPr>
        <p:txBody>
          <a:bodyPr wrap="square">
            <a:spAutoFit/>
          </a:bodyPr>
          <a:lstStyle/>
          <a:p>
            <a:pPr algn="ctr">
              <a:defRPr sz="2200" b="1">
                <a:solidFill>
                  <a:srgbClr val="BB86FC"/>
                </a:solidFill>
                <a:latin typeface="Segoe UI"/>
              </a:defRPr>
            </a:pPr>
            <a:r>
              <a:t>Chunking</a:t>
            </a:r>
          </a:p>
        </p:txBody>
      </p:sp>
      <p:sp>
        <p:nvSpPr>
          <p:cNvPr id="20" name="Rectangle 19"/>
          <p:cNvSpPr/>
          <p:nvPr/>
        </p:nvSpPr>
        <p:spPr>
          <a:xfrm>
            <a:off x="9738360" y="2103120"/>
            <a:ext cx="1188720" cy="27432"/>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19" y="2286000"/>
            <a:ext cx="2286000" cy="2286000"/>
          </a:xfrm>
          <a:prstGeom prst="rect">
            <a:avLst/>
          </a:prstGeom>
          <a:noFill/>
        </p:spPr>
        <p:txBody>
          <a:bodyPr wrap="square">
            <a:spAutoFit/>
          </a:bodyPr>
          <a:lstStyle/>
          <a:p>
            <a:pPr algn="ctr">
              <a:defRPr sz="1500" b="0">
                <a:solidFill>
                  <a:srgbClr val="CCCCCC"/>
                </a:solidFill>
                <a:latin typeface="Segoe UI"/>
              </a:defRPr>
            </a:pPr>
            <a:r>
              <a:t>Split documents into digestible</a:t>
            </a:r>
            <a:br/>
            <a:r>
              <a:t>pieces (200-500 tokens).</a:t>
            </a:r>
            <a:br/>
            <a:r>
              <a:t>Overlap preserves context.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BB86FC"/>
                </a:solidFill>
                <a:latin typeface="Segoe UI"/>
              </a:defRPr>
            </a:pPr>
            <a:r>
              <a:t>Jarvis Architecture Overview</a:t>
            </a:r>
          </a:p>
        </p:txBody>
      </p:sp>
      <p:sp>
        <p:nvSpPr>
          <p:cNvPr id="5" name="Rectangle 4"/>
          <p:cNvSpPr/>
          <p:nvPr/>
        </p:nvSpPr>
        <p:spPr>
          <a:xfrm>
            <a:off x="731520" y="822960"/>
            <a:ext cx="2286000" cy="36576"/>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280160"/>
            <a:ext cx="3474720" cy="13716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71600"/>
            <a:ext cx="3108960" cy="365760"/>
          </a:xfrm>
          <a:prstGeom prst="rect">
            <a:avLst/>
          </a:prstGeom>
          <a:noFill/>
        </p:spPr>
        <p:txBody>
          <a:bodyPr wrap="square">
            <a:spAutoFit/>
          </a:bodyPr>
          <a:lstStyle/>
          <a:p>
            <a:pPr algn="ctr">
              <a:defRPr sz="2000" b="1">
                <a:solidFill>
                  <a:srgbClr val="00D4FF"/>
                </a:solidFill>
                <a:latin typeface="Segoe UI"/>
              </a:defRPr>
            </a:pPr>
            <a:r>
              <a:t>Web UI (:18889)</a:t>
            </a:r>
          </a:p>
        </p:txBody>
      </p:sp>
      <p:sp>
        <p:nvSpPr>
          <p:cNvPr id="8" name="TextBox 7"/>
          <p:cNvSpPr txBox="1"/>
          <p:nvPr/>
        </p:nvSpPr>
        <p:spPr>
          <a:xfrm>
            <a:off x="640080" y="1828800"/>
            <a:ext cx="3108960" cy="731520"/>
          </a:xfrm>
          <a:prstGeom prst="rect">
            <a:avLst/>
          </a:prstGeom>
          <a:noFill/>
        </p:spPr>
        <p:txBody>
          <a:bodyPr wrap="square">
            <a:spAutoFit/>
          </a:bodyPr>
          <a:lstStyle/>
          <a:p>
            <a:pPr>
              <a:spcAft>
                <a:spcPts val="600"/>
              </a:spcAft>
              <a:defRPr sz="1400">
                <a:solidFill>
                  <a:srgbClr val="CCCCCC"/>
                </a:solidFill>
                <a:latin typeface="Segoe UI"/>
              </a:defRPr>
            </a:pPr>
            <a:r>
              <a:t>▸  Chat interface + SSE streaming</a:t>
            </a:r>
          </a:p>
          <a:p>
            <a:pPr>
              <a:spcAft>
                <a:spcPts val="600"/>
              </a:spcAft>
              <a:defRPr sz="1400">
                <a:solidFill>
                  <a:srgbClr val="CCCCCC"/>
                </a:solidFill>
                <a:latin typeface="Segoe UI"/>
              </a:defRPr>
            </a:pPr>
            <a:r>
              <a:t>▸  Image upload, model selector</a:t>
            </a:r>
          </a:p>
        </p:txBody>
      </p:sp>
      <p:sp>
        <p:nvSpPr>
          <p:cNvPr id="9" name="Rounded Rectangle 8"/>
          <p:cNvSpPr/>
          <p:nvPr/>
        </p:nvSpPr>
        <p:spPr>
          <a:xfrm>
            <a:off x="4297680" y="1280160"/>
            <a:ext cx="3657600" cy="137160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371600"/>
            <a:ext cx="3291840" cy="365760"/>
          </a:xfrm>
          <a:prstGeom prst="rect">
            <a:avLst/>
          </a:prstGeom>
          <a:noFill/>
        </p:spPr>
        <p:txBody>
          <a:bodyPr wrap="square">
            <a:spAutoFit/>
          </a:bodyPr>
          <a:lstStyle/>
          <a:p>
            <a:pPr algn="ctr">
              <a:defRPr sz="2000" b="1">
                <a:solidFill>
                  <a:srgbClr val="00E676"/>
                </a:solidFill>
                <a:latin typeface="Segoe UI"/>
              </a:defRPr>
            </a:pPr>
            <a:r>
              <a:t>Flask + Blueprints</a:t>
            </a:r>
          </a:p>
        </p:txBody>
      </p:sp>
      <p:sp>
        <p:nvSpPr>
          <p:cNvPr id="11" name="TextBox 10"/>
          <p:cNvSpPr txBox="1"/>
          <p:nvPr/>
        </p:nvSpPr>
        <p:spPr>
          <a:xfrm>
            <a:off x="4480560" y="1828800"/>
            <a:ext cx="3291840" cy="731520"/>
          </a:xfrm>
          <a:prstGeom prst="rect">
            <a:avLst/>
          </a:prstGeom>
          <a:noFill/>
        </p:spPr>
        <p:txBody>
          <a:bodyPr wrap="square">
            <a:spAutoFit/>
          </a:bodyPr>
          <a:lstStyle/>
          <a:p>
            <a:pPr>
              <a:spcAft>
                <a:spcPts val="600"/>
              </a:spcAft>
              <a:defRPr sz="1400">
                <a:solidFill>
                  <a:srgbClr val="CCCCCC"/>
                </a:solidFill>
                <a:latin typeface="Segoe UI"/>
              </a:defRPr>
            </a:pPr>
            <a:r>
              <a:t>▸  toolbar_bp, daily_fetch_bp</a:t>
            </a:r>
          </a:p>
          <a:p>
            <a:pPr>
              <a:spcAft>
                <a:spcPts val="600"/>
              </a:spcAft>
              <a:defRPr sz="1400">
                <a:solidFill>
                  <a:srgbClr val="CCCCCC"/>
                </a:solidFill>
                <a:latin typeface="Segoe UI"/>
              </a:defRPr>
            </a:pPr>
            <a:r>
              <a:t>▸  Intent routing + Pipeline</a:t>
            </a:r>
          </a:p>
        </p:txBody>
      </p:sp>
      <p:sp>
        <p:nvSpPr>
          <p:cNvPr id="12" name="Rounded Rectangle 11"/>
          <p:cNvSpPr/>
          <p:nvPr/>
        </p:nvSpPr>
        <p:spPr>
          <a:xfrm>
            <a:off x="8321040" y="1280160"/>
            <a:ext cx="3474720" cy="13716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0" y="1371600"/>
            <a:ext cx="3108960" cy="365760"/>
          </a:xfrm>
          <a:prstGeom prst="rect">
            <a:avLst/>
          </a:prstGeom>
          <a:noFill/>
        </p:spPr>
        <p:txBody>
          <a:bodyPr wrap="square">
            <a:spAutoFit/>
          </a:bodyPr>
          <a:lstStyle/>
          <a:p>
            <a:pPr algn="ctr">
              <a:defRPr sz="2000" b="1">
                <a:solidFill>
                  <a:srgbClr val="FF8C00"/>
                </a:solidFill>
                <a:latin typeface="Segoe UI"/>
              </a:defRPr>
            </a:pPr>
            <a:r>
              <a:t>Agent Loop (ReAct)</a:t>
            </a:r>
          </a:p>
        </p:txBody>
      </p:sp>
      <p:sp>
        <p:nvSpPr>
          <p:cNvPr id="14" name="TextBox 13"/>
          <p:cNvSpPr txBox="1"/>
          <p:nvPr/>
        </p:nvSpPr>
        <p:spPr>
          <a:xfrm>
            <a:off x="8503920" y="1828800"/>
            <a:ext cx="3108960" cy="731520"/>
          </a:xfrm>
          <a:prstGeom prst="rect">
            <a:avLst/>
          </a:prstGeom>
          <a:noFill/>
        </p:spPr>
        <p:txBody>
          <a:bodyPr wrap="square">
            <a:spAutoFit/>
          </a:bodyPr>
          <a:lstStyle/>
          <a:p>
            <a:pPr>
              <a:spcAft>
                <a:spcPts val="600"/>
              </a:spcAft>
              <a:defRPr sz="1400">
                <a:solidFill>
                  <a:srgbClr val="CCCCCC"/>
                </a:solidFill>
                <a:latin typeface="Segoe UI"/>
              </a:defRPr>
            </a:pPr>
            <a:r>
              <a:t>▸  Multi-iteration tool calls</a:t>
            </a:r>
          </a:p>
          <a:p>
            <a:pPr>
              <a:spcAft>
                <a:spcPts val="600"/>
              </a:spcAft>
              <a:defRPr sz="1400">
                <a:solidFill>
                  <a:srgbClr val="CCCCCC"/>
                </a:solidFill>
                <a:latin typeface="Segoe UI"/>
              </a:defRPr>
            </a:pPr>
            <a:r>
              <a:t>▸  Streaming token output</a:t>
            </a:r>
          </a:p>
        </p:txBody>
      </p:sp>
      <p:sp>
        <p:nvSpPr>
          <p:cNvPr id="15" name="Rounded Rectangle 14"/>
          <p:cNvSpPr/>
          <p:nvPr/>
        </p:nvSpPr>
        <p:spPr>
          <a:xfrm>
            <a:off x="457200" y="3017520"/>
            <a:ext cx="3474720" cy="164592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108960"/>
            <a:ext cx="3108960" cy="365760"/>
          </a:xfrm>
          <a:prstGeom prst="rect">
            <a:avLst/>
          </a:prstGeom>
          <a:noFill/>
        </p:spPr>
        <p:txBody>
          <a:bodyPr wrap="square">
            <a:spAutoFit/>
          </a:bodyPr>
          <a:lstStyle/>
          <a:p>
            <a:pPr algn="ctr">
              <a:defRPr sz="2000" b="1">
                <a:solidFill>
                  <a:srgbClr val="00D4FF"/>
                </a:solidFill>
                <a:latin typeface="Segoe UI"/>
              </a:defRPr>
            </a:pPr>
            <a:r>
              <a:t>Auto-RAG Engine</a:t>
            </a:r>
          </a:p>
        </p:txBody>
      </p:sp>
      <p:sp>
        <p:nvSpPr>
          <p:cNvPr id="17" name="TextBox 16"/>
          <p:cNvSpPr txBox="1"/>
          <p:nvPr/>
        </p:nvSpPr>
        <p:spPr>
          <a:xfrm>
            <a:off x="640080" y="3566160"/>
            <a:ext cx="3108960" cy="914400"/>
          </a:xfrm>
          <a:prstGeom prst="rect">
            <a:avLst/>
          </a:prstGeom>
          <a:noFill/>
        </p:spPr>
        <p:txBody>
          <a:bodyPr wrap="square">
            <a:spAutoFit/>
          </a:bodyPr>
          <a:lstStyle/>
          <a:p>
            <a:pPr>
              <a:spcAft>
                <a:spcPts val="600"/>
              </a:spcAft>
              <a:defRPr sz="1400">
                <a:solidFill>
                  <a:srgbClr val="CCCCCC"/>
                </a:solidFill>
                <a:latin typeface="Segoe UI"/>
              </a:defRPr>
            </a:pPr>
            <a:r>
              <a:t>▸  Vector search (Qdrant)</a:t>
            </a:r>
          </a:p>
          <a:p>
            <a:pPr>
              <a:spcAft>
                <a:spcPts val="600"/>
              </a:spcAft>
              <a:defRPr sz="1400">
                <a:solidFill>
                  <a:srgbClr val="CCCCCC"/>
                </a:solidFill>
                <a:latin typeface="Segoe UI"/>
              </a:defRPr>
            </a:pPr>
            <a:r>
              <a:t>▸  BM25 + RRF fusion</a:t>
            </a:r>
          </a:p>
          <a:p>
            <a:pPr>
              <a:spcAft>
                <a:spcPts val="600"/>
              </a:spcAft>
              <a:defRPr sz="1400">
                <a:solidFill>
                  <a:srgbClr val="CCCCCC"/>
                </a:solidFill>
                <a:latin typeface="Segoe UI"/>
              </a:defRPr>
            </a:pPr>
            <a:r>
              <a:t>▸  Entity/wiki/project filters</a:t>
            </a:r>
          </a:p>
          <a:p>
            <a:pPr>
              <a:spcAft>
                <a:spcPts val="600"/>
              </a:spcAft>
              <a:defRPr sz="1400">
                <a:solidFill>
                  <a:srgbClr val="CCCCCC"/>
                </a:solidFill>
                <a:latin typeface="Segoe UI"/>
              </a:defRPr>
            </a:pPr>
            <a:r>
              <a:t>▸  Vague query rewrite</a:t>
            </a:r>
          </a:p>
        </p:txBody>
      </p:sp>
      <p:sp>
        <p:nvSpPr>
          <p:cNvPr id="18" name="Rounded Rectangle 17"/>
          <p:cNvSpPr/>
          <p:nvPr/>
        </p:nvSpPr>
        <p:spPr>
          <a:xfrm>
            <a:off x="4297680" y="3017520"/>
            <a:ext cx="3657600" cy="164592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80560" y="3108960"/>
            <a:ext cx="3291840" cy="365760"/>
          </a:xfrm>
          <a:prstGeom prst="rect">
            <a:avLst/>
          </a:prstGeom>
          <a:noFill/>
        </p:spPr>
        <p:txBody>
          <a:bodyPr wrap="square">
            <a:spAutoFit/>
          </a:bodyPr>
          <a:lstStyle/>
          <a:p>
            <a:pPr algn="ctr">
              <a:defRPr sz="2000" b="1">
                <a:solidFill>
                  <a:srgbClr val="00E676"/>
                </a:solidFill>
                <a:latin typeface="Segoe UI"/>
              </a:defRPr>
            </a:pPr>
            <a:r>
              <a:t>Tool System</a:t>
            </a:r>
          </a:p>
        </p:txBody>
      </p:sp>
      <p:sp>
        <p:nvSpPr>
          <p:cNvPr id="20" name="TextBox 19"/>
          <p:cNvSpPr txBox="1"/>
          <p:nvPr/>
        </p:nvSpPr>
        <p:spPr>
          <a:xfrm>
            <a:off x="4480560" y="3566160"/>
            <a:ext cx="3291840" cy="914400"/>
          </a:xfrm>
          <a:prstGeom prst="rect">
            <a:avLst/>
          </a:prstGeom>
          <a:noFill/>
        </p:spPr>
        <p:txBody>
          <a:bodyPr wrap="square">
            <a:spAutoFit/>
          </a:bodyPr>
          <a:lstStyle/>
          <a:p>
            <a:pPr>
              <a:spcAft>
                <a:spcPts val="600"/>
              </a:spcAft>
              <a:defRPr sz="1400">
                <a:solidFill>
                  <a:srgbClr val="CCCCCC"/>
                </a:solidFill>
                <a:latin typeface="Segoe UI"/>
              </a:defRPr>
            </a:pPr>
            <a:r>
              <a:t>▸  Jira reports (PowerShell)</a:t>
            </a:r>
          </a:p>
          <a:p>
            <a:pPr>
              <a:spcAft>
                <a:spcPts val="600"/>
              </a:spcAft>
              <a:defRPr sz="1400">
                <a:solidFill>
                  <a:srgbClr val="CCCCCC"/>
                </a:solidFill>
                <a:latin typeface="Segoe UI"/>
              </a:defRPr>
            </a:pPr>
            <a:r>
              <a:t>▸  Git commit summaries</a:t>
            </a:r>
          </a:p>
          <a:p>
            <a:pPr>
              <a:spcAft>
                <a:spcPts val="600"/>
              </a:spcAft>
              <a:defRPr sz="1400">
                <a:solidFill>
                  <a:srgbClr val="CCCCCC"/>
                </a:solidFill>
                <a:latin typeface="Segoe UI"/>
              </a:defRPr>
            </a:pPr>
            <a:r>
              <a:t>▸  Confluence wiki search</a:t>
            </a:r>
          </a:p>
          <a:p>
            <a:pPr>
              <a:spcAft>
                <a:spcPts val="600"/>
              </a:spcAft>
              <a:defRPr sz="1400">
                <a:solidFill>
                  <a:srgbClr val="CCCCCC"/>
                </a:solidFill>
                <a:latin typeface="Segoe UI"/>
              </a:defRPr>
            </a:pPr>
            <a:r>
              <a:t>▸  Project dependency graph</a:t>
            </a:r>
          </a:p>
        </p:txBody>
      </p:sp>
      <p:sp>
        <p:nvSpPr>
          <p:cNvPr id="21" name="Rounded Rectangle 20"/>
          <p:cNvSpPr/>
          <p:nvPr/>
        </p:nvSpPr>
        <p:spPr>
          <a:xfrm>
            <a:off x="8321040" y="3017520"/>
            <a:ext cx="3474720" cy="164592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0" y="3108960"/>
            <a:ext cx="3108960" cy="365760"/>
          </a:xfrm>
          <a:prstGeom prst="rect">
            <a:avLst/>
          </a:prstGeom>
          <a:noFill/>
        </p:spPr>
        <p:txBody>
          <a:bodyPr wrap="square">
            <a:spAutoFit/>
          </a:bodyPr>
          <a:lstStyle/>
          <a:p>
            <a:pPr algn="ctr">
              <a:defRPr sz="2000" b="1">
                <a:solidFill>
                  <a:srgbClr val="FF8C00"/>
                </a:solidFill>
                <a:latin typeface="Segoe UI"/>
              </a:defRPr>
            </a:pPr>
            <a:r>
              <a:t>Infrastructure</a:t>
            </a:r>
          </a:p>
        </p:txBody>
      </p:sp>
      <p:sp>
        <p:nvSpPr>
          <p:cNvPr id="23" name="TextBox 22"/>
          <p:cNvSpPr txBox="1"/>
          <p:nvPr/>
        </p:nvSpPr>
        <p:spPr>
          <a:xfrm>
            <a:off x="8503920" y="3566160"/>
            <a:ext cx="3108960" cy="914400"/>
          </a:xfrm>
          <a:prstGeom prst="rect">
            <a:avLst/>
          </a:prstGeom>
          <a:noFill/>
        </p:spPr>
        <p:txBody>
          <a:bodyPr wrap="square">
            <a:spAutoFit/>
          </a:bodyPr>
          <a:lstStyle/>
          <a:p>
            <a:pPr>
              <a:spcAft>
                <a:spcPts val="600"/>
              </a:spcAft>
              <a:defRPr sz="1400">
                <a:solidFill>
                  <a:srgbClr val="CCCCCC"/>
                </a:solidFill>
                <a:latin typeface="Segoe UI"/>
              </a:defRPr>
            </a:pPr>
            <a:r>
              <a:t>▸  Ollama LLM (local)</a:t>
            </a:r>
          </a:p>
          <a:p>
            <a:pPr>
              <a:spcAft>
                <a:spcPts val="600"/>
              </a:spcAft>
              <a:defRPr sz="1400">
                <a:solidFill>
                  <a:srgbClr val="CCCCCC"/>
                </a:solidFill>
                <a:latin typeface="Segoe UI"/>
              </a:defRPr>
            </a:pPr>
            <a:r>
              <a:t>▸  Qdrant vector DB (in-memory)</a:t>
            </a:r>
          </a:p>
          <a:p>
            <a:pPr>
              <a:spcAft>
                <a:spcPts val="600"/>
              </a:spcAft>
              <a:defRPr sz="1400">
                <a:solidFill>
                  <a:srgbClr val="CCCCCC"/>
                </a:solidFill>
                <a:latin typeface="Segoe UI"/>
              </a:defRPr>
            </a:pPr>
            <a:r>
              <a:t>▸  MiniLM-L6 embeddings</a:t>
            </a:r>
          </a:p>
          <a:p>
            <a:pPr>
              <a:spcAft>
                <a:spcPts val="600"/>
              </a:spcAft>
              <a:defRPr sz="1400">
                <a:solidFill>
                  <a:srgbClr val="CCCCCC"/>
                </a:solidFill>
                <a:latin typeface="Segoe UI"/>
              </a:defRPr>
            </a:pPr>
            <a:r>
              <a:t>▸  Edge TTS, ffmpeg</a:t>
            </a:r>
          </a:p>
        </p:txBody>
      </p:sp>
      <p:sp>
        <p:nvSpPr>
          <p:cNvPr id="24" name="Rounded Rectangle 23"/>
          <p:cNvSpPr/>
          <p:nvPr/>
        </p:nvSpPr>
        <p:spPr>
          <a:xfrm>
            <a:off x="457200" y="5029200"/>
            <a:ext cx="11338560" cy="1371600"/>
          </a:xfrm>
          <a:prstGeom prst="roundRect">
            <a:avLst/>
          </a:prstGeom>
          <a:solidFill>
            <a:srgbClr val="1E2D50"/>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5120640"/>
            <a:ext cx="10789920" cy="365760"/>
          </a:xfrm>
          <a:prstGeom prst="rect">
            <a:avLst/>
          </a:prstGeom>
          <a:noFill/>
        </p:spPr>
        <p:txBody>
          <a:bodyPr wrap="square">
            <a:spAutoFit/>
          </a:bodyPr>
          <a:lstStyle/>
          <a:p>
            <a:pPr algn="ctr">
              <a:defRPr sz="2000" b="1">
                <a:solidFill>
                  <a:srgbClr val="BB86FC"/>
                </a:solidFill>
                <a:latin typeface="Segoe UI"/>
              </a:defRPr>
            </a:pPr>
            <a:r>
              <a:t>Knowledge Sources (18,000+ chunks)</a:t>
            </a:r>
          </a:p>
        </p:txBody>
      </p:sp>
      <p:sp>
        <p:nvSpPr>
          <p:cNvPr id="26" name="TextBox 25"/>
          <p:cNvSpPr txBox="1"/>
          <p:nvPr/>
        </p:nvSpPr>
        <p:spPr>
          <a:xfrm>
            <a:off x="731520" y="5577840"/>
            <a:ext cx="10789920" cy="731520"/>
          </a:xfrm>
          <a:prstGeom prst="rect">
            <a:avLst/>
          </a:prstGeom>
          <a:noFill/>
        </p:spPr>
        <p:txBody>
          <a:bodyPr wrap="square">
            <a:spAutoFit/>
          </a:bodyPr>
          <a:lstStyle/>
          <a:p>
            <a:pPr>
              <a:spcAft>
                <a:spcPts val="600"/>
              </a:spcAft>
              <a:defRPr sz="1500">
                <a:solidFill>
                  <a:srgbClr val="CCCCCC"/>
                </a:solidFill>
                <a:latin typeface="Segoe UI"/>
              </a:defRPr>
            </a:pPr>
            <a:r>
              <a:t>AI Briefings (daily)    |    Confluence Wiki Pages    |    Java Codebase (P4M)    |    Git Commit History    |    Jira Tickets    |    Custom Documents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108960"/>
            <a:ext cx="12191695"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5000" b="1">
                <a:solidFill>
                  <a:srgbClr val="FF8C00"/>
                </a:solidFill>
                <a:latin typeface="Segoe UI"/>
              </a:defRPr>
            </a:pPr>
            <a:r>
              <a:t>LIVE DEMO</a:t>
            </a:r>
          </a:p>
        </p:txBody>
      </p:sp>
      <p:sp>
        <p:nvSpPr>
          <p:cNvPr id="5" name="TextBox 4"/>
          <p:cNvSpPr txBox="1"/>
          <p:nvPr/>
        </p:nvSpPr>
        <p:spPr>
          <a:xfrm>
            <a:off x="914400" y="3383280"/>
            <a:ext cx="10058400" cy="731520"/>
          </a:xfrm>
          <a:prstGeom prst="rect">
            <a:avLst/>
          </a:prstGeom>
          <a:noFill/>
        </p:spPr>
        <p:txBody>
          <a:bodyPr wrap="square">
            <a:spAutoFit/>
          </a:bodyPr>
          <a:lstStyle/>
          <a:p>
            <a:pPr algn="ctr">
              <a:defRPr sz="3600" b="0">
                <a:solidFill>
                  <a:srgbClr val="FFFFFF"/>
                </a:solidFill>
                <a:latin typeface="Segoe UI"/>
              </a:defRPr>
            </a:pPr>
            <a:r>
              <a:t>Medavis Features</a:t>
            </a:r>
          </a:p>
        </p:txBody>
      </p:sp>
      <p:sp>
        <p:nvSpPr>
          <p:cNvPr id="6" name="TextBox 5"/>
          <p:cNvSpPr txBox="1"/>
          <p:nvPr/>
        </p:nvSpPr>
        <p:spPr>
          <a:xfrm>
            <a:off x="914400" y="4206240"/>
            <a:ext cx="10058400" cy="548640"/>
          </a:xfrm>
          <a:prstGeom prst="rect">
            <a:avLst/>
          </a:prstGeom>
          <a:noFill/>
        </p:spPr>
        <p:txBody>
          <a:bodyPr wrap="square">
            <a:spAutoFit/>
          </a:bodyPr>
          <a:lstStyle/>
          <a:p>
            <a:pPr algn="ctr">
              <a:defRPr sz="2000" b="0">
                <a:solidFill>
                  <a:srgbClr val="AAAAAA"/>
                </a:solidFill>
                <a:latin typeface="Segoe UI"/>
              </a:defRPr>
            </a:pPr>
            <a:r>
              <a:t>Jira  •  Confluence  •  Commit Summary  •  Codebase  •  Project Graph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FF8C00"/>
                </a:solidFill>
                <a:latin typeface="Segoe UI"/>
              </a:defRPr>
            </a:pPr>
            <a:r>
              <a:t>Medavis Features: What We'll Demo</a:t>
            </a:r>
          </a:p>
        </p:txBody>
      </p:sp>
      <p:sp>
        <p:nvSpPr>
          <p:cNvPr id="5" name="Rectangle 4"/>
          <p:cNvSpPr/>
          <p:nvPr/>
        </p:nvSpPr>
        <p:spPr>
          <a:xfrm>
            <a:off x="731520" y="822960"/>
            <a:ext cx="274320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280160"/>
            <a:ext cx="10789920" cy="9144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371600"/>
            <a:ext cx="3200400" cy="365760"/>
          </a:xfrm>
          <a:prstGeom prst="rect">
            <a:avLst/>
          </a:prstGeom>
          <a:noFill/>
        </p:spPr>
        <p:txBody>
          <a:bodyPr wrap="square">
            <a:spAutoFit/>
          </a:bodyPr>
          <a:lstStyle/>
          <a:p>
            <a:pPr algn="l">
              <a:defRPr sz="2000" b="1">
                <a:solidFill>
                  <a:srgbClr val="00D4FF"/>
                </a:solidFill>
                <a:latin typeface="Segoe UI"/>
              </a:defRPr>
            </a:pPr>
            <a:r>
              <a:t>Jira Daily Report</a:t>
            </a:r>
          </a:p>
        </p:txBody>
      </p:sp>
      <p:sp>
        <p:nvSpPr>
          <p:cNvPr id="8" name="TextBox 7"/>
          <p:cNvSpPr txBox="1"/>
          <p:nvPr/>
        </p:nvSpPr>
        <p:spPr>
          <a:xfrm>
            <a:off x="4389120" y="1371600"/>
            <a:ext cx="6858000" cy="731520"/>
          </a:xfrm>
          <a:prstGeom prst="rect">
            <a:avLst/>
          </a:prstGeom>
          <a:noFill/>
        </p:spPr>
        <p:txBody>
          <a:bodyPr wrap="square">
            <a:spAutoFit/>
          </a:bodyPr>
          <a:lstStyle/>
          <a:p>
            <a:pPr algn="l">
              <a:defRPr sz="1500" b="0">
                <a:solidFill>
                  <a:srgbClr val="CCCCCC"/>
                </a:solidFill>
                <a:latin typeface="Segoe UI"/>
              </a:defRPr>
            </a:pPr>
            <a:r>
              <a:t>Fetches open tickets, sprint activity,</a:t>
            </a:r>
            <a:br/>
            <a:r>
              <a:t>team workload — auto-generated summary</a:t>
            </a:r>
          </a:p>
        </p:txBody>
      </p:sp>
      <p:sp>
        <p:nvSpPr>
          <p:cNvPr id="9" name="Rounded Rectangle 8"/>
          <p:cNvSpPr/>
          <p:nvPr/>
        </p:nvSpPr>
        <p:spPr>
          <a:xfrm>
            <a:off x="731520" y="2331720"/>
            <a:ext cx="10789920" cy="91440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423160"/>
            <a:ext cx="3200400" cy="365760"/>
          </a:xfrm>
          <a:prstGeom prst="rect">
            <a:avLst/>
          </a:prstGeom>
          <a:noFill/>
        </p:spPr>
        <p:txBody>
          <a:bodyPr wrap="square">
            <a:spAutoFit/>
          </a:bodyPr>
          <a:lstStyle/>
          <a:p>
            <a:pPr algn="l">
              <a:defRPr sz="2000" b="1">
                <a:solidFill>
                  <a:srgbClr val="00E676"/>
                </a:solidFill>
                <a:latin typeface="Segoe UI"/>
              </a:defRPr>
            </a:pPr>
            <a:r>
              <a:t>Confluence Wiki</a:t>
            </a:r>
          </a:p>
        </p:txBody>
      </p:sp>
      <p:sp>
        <p:nvSpPr>
          <p:cNvPr id="11" name="TextBox 10"/>
          <p:cNvSpPr txBox="1"/>
          <p:nvPr/>
        </p:nvSpPr>
        <p:spPr>
          <a:xfrm>
            <a:off x="4389120" y="2423160"/>
            <a:ext cx="6858000" cy="731520"/>
          </a:xfrm>
          <a:prstGeom prst="rect">
            <a:avLst/>
          </a:prstGeom>
          <a:noFill/>
        </p:spPr>
        <p:txBody>
          <a:bodyPr wrap="square">
            <a:spAutoFit/>
          </a:bodyPr>
          <a:lstStyle/>
          <a:p>
            <a:pPr algn="l">
              <a:defRPr sz="1500" b="0">
                <a:solidFill>
                  <a:srgbClr val="CCCCCC"/>
                </a:solidFill>
                <a:latin typeface="Segoe UI"/>
              </a:defRPr>
            </a:pPr>
            <a:r>
              <a:t>Indexes team wiki pages, tracks changes,</a:t>
            </a:r>
            <a:br/>
            <a:r>
              <a:t>version diffs — searchable in chat</a:t>
            </a:r>
          </a:p>
        </p:txBody>
      </p:sp>
      <p:sp>
        <p:nvSpPr>
          <p:cNvPr id="12" name="Rounded Rectangle 11"/>
          <p:cNvSpPr/>
          <p:nvPr/>
        </p:nvSpPr>
        <p:spPr>
          <a:xfrm>
            <a:off x="731520" y="3383279"/>
            <a:ext cx="10789920" cy="9144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3474720"/>
            <a:ext cx="3200400" cy="365760"/>
          </a:xfrm>
          <a:prstGeom prst="rect">
            <a:avLst/>
          </a:prstGeom>
          <a:noFill/>
        </p:spPr>
        <p:txBody>
          <a:bodyPr wrap="square">
            <a:spAutoFit/>
          </a:bodyPr>
          <a:lstStyle/>
          <a:p>
            <a:pPr algn="l">
              <a:defRPr sz="2000" b="1">
                <a:solidFill>
                  <a:srgbClr val="FF8C00"/>
                </a:solidFill>
                <a:latin typeface="Segoe UI"/>
              </a:defRPr>
            </a:pPr>
            <a:r>
              <a:t>Commit Summary</a:t>
            </a:r>
          </a:p>
        </p:txBody>
      </p:sp>
      <p:sp>
        <p:nvSpPr>
          <p:cNvPr id="14" name="TextBox 13"/>
          <p:cNvSpPr txBox="1"/>
          <p:nvPr/>
        </p:nvSpPr>
        <p:spPr>
          <a:xfrm>
            <a:off x="4389120" y="3474720"/>
            <a:ext cx="6858000" cy="731520"/>
          </a:xfrm>
          <a:prstGeom prst="rect">
            <a:avLst/>
          </a:prstGeom>
          <a:noFill/>
        </p:spPr>
        <p:txBody>
          <a:bodyPr wrap="square">
            <a:spAutoFit/>
          </a:bodyPr>
          <a:lstStyle/>
          <a:p>
            <a:pPr algn="l">
              <a:defRPr sz="1500" b="0">
                <a:solidFill>
                  <a:srgbClr val="CCCCCC"/>
                </a:solidFill>
                <a:latin typeface="Segoe UI"/>
              </a:defRPr>
            </a:pPr>
            <a:r>
              <a:t>Multi-repo git log, author aliases,</a:t>
            </a:r>
            <a:br/>
            <a:r>
              <a:t>Bitbucket links — team activity view</a:t>
            </a:r>
          </a:p>
        </p:txBody>
      </p:sp>
      <p:sp>
        <p:nvSpPr>
          <p:cNvPr id="15" name="Rounded Rectangle 14"/>
          <p:cNvSpPr/>
          <p:nvPr/>
        </p:nvSpPr>
        <p:spPr>
          <a:xfrm>
            <a:off x="731520" y="4434840"/>
            <a:ext cx="10789920" cy="914400"/>
          </a:xfrm>
          <a:prstGeom prst="roundRect">
            <a:avLst/>
          </a:prstGeom>
          <a:solidFill>
            <a:srgbClr val="16213E"/>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526279"/>
            <a:ext cx="3200400" cy="365760"/>
          </a:xfrm>
          <a:prstGeom prst="rect">
            <a:avLst/>
          </a:prstGeom>
          <a:noFill/>
        </p:spPr>
        <p:txBody>
          <a:bodyPr wrap="square">
            <a:spAutoFit/>
          </a:bodyPr>
          <a:lstStyle/>
          <a:p>
            <a:pPr algn="l">
              <a:defRPr sz="2000" b="1">
                <a:solidFill>
                  <a:srgbClr val="BB86FC"/>
                </a:solidFill>
                <a:latin typeface="Segoe UI"/>
              </a:defRPr>
            </a:pPr>
            <a:r>
              <a:t>Codebase Indexing</a:t>
            </a:r>
          </a:p>
        </p:txBody>
      </p:sp>
      <p:sp>
        <p:nvSpPr>
          <p:cNvPr id="17" name="TextBox 16"/>
          <p:cNvSpPr txBox="1"/>
          <p:nvPr/>
        </p:nvSpPr>
        <p:spPr>
          <a:xfrm>
            <a:off x="4389120" y="4526279"/>
            <a:ext cx="6858000" cy="731520"/>
          </a:xfrm>
          <a:prstGeom prst="rect">
            <a:avLst/>
          </a:prstGeom>
          <a:noFill/>
        </p:spPr>
        <p:txBody>
          <a:bodyPr wrap="square">
            <a:spAutoFit/>
          </a:bodyPr>
          <a:lstStyle/>
          <a:p>
            <a:pPr algn="l">
              <a:defRPr sz="1500" b="0">
                <a:solidFill>
                  <a:srgbClr val="CCCCCC"/>
                </a:solidFill>
                <a:latin typeface="Segoe UI"/>
              </a:defRPr>
            </a:pPr>
            <a:r>
              <a:t>Java/MD/config files indexed,</a:t>
            </a:r>
            <a:br/>
            <a:r>
              <a:t>MD5 dedup, project-scoped search</a:t>
            </a:r>
          </a:p>
        </p:txBody>
      </p:sp>
      <p:sp>
        <p:nvSpPr>
          <p:cNvPr id="18" name="Rounded Rectangle 17"/>
          <p:cNvSpPr/>
          <p:nvPr/>
        </p:nvSpPr>
        <p:spPr>
          <a:xfrm>
            <a:off x="731520" y="5486400"/>
            <a:ext cx="10789920" cy="9144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5577840"/>
            <a:ext cx="3200400" cy="365760"/>
          </a:xfrm>
          <a:prstGeom prst="rect">
            <a:avLst/>
          </a:prstGeom>
          <a:noFill/>
        </p:spPr>
        <p:txBody>
          <a:bodyPr wrap="square">
            <a:spAutoFit/>
          </a:bodyPr>
          <a:lstStyle/>
          <a:p>
            <a:pPr algn="l">
              <a:defRPr sz="2000" b="1">
                <a:solidFill>
                  <a:srgbClr val="00D4FF"/>
                </a:solidFill>
                <a:latin typeface="Segoe UI"/>
              </a:defRPr>
            </a:pPr>
            <a:r>
              <a:t>Project Graph</a:t>
            </a:r>
          </a:p>
        </p:txBody>
      </p:sp>
      <p:sp>
        <p:nvSpPr>
          <p:cNvPr id="20" name="TextBox 19"/>
          <p:cNvSpPr txBox="1"/>
          <p:nvPr/>
        </p:nvSpPr>
        <p:spPr>
          <a:xfrm>
            <a:off x="4389120" y="5577840"/>
            <a:ext cx="6858000" cy="731520"/>
          </a:xfrm>
          <a:prstGeom prst="rect">
            <a:avLst/>
          </a:prstGeom>
          <a:noFill/>
        </p:spPr>
        <p:txBody>
          <a:bodyPr wrap="square">
            <a:spAutoFit/>
          </a:bodyPr>
          <a:lstStyle/>
          <a:p>
            <a:pPr algn="l">
              <a:defRPr sz="1500" b="0">
                <a:solidFill>
                  <a:srgbClr val="CCCCCC"/>
                </a:solidFill>
                <a:latin typeface="Segoe UI"/>
              </a:defRPr>
            </a:pPr>
            <a:r>
              <a:t>pom.xml → dependency graph,</a:t>
            </a:r>
            <a:br/>
            <a:r>
              <a:t>"what depends on X?" queries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00D4FF"/>
                </a:solidFill>
                <a:latin typeface="Segoe UI"/>
              </a:defRPr>
            </a:pPr>
            <a:r>
              <a:t>Auto-RAG: How It Works Under the Hood</a:t>
            </a:r>
          </a:p>
        </p:txBody>
      </p:sp>
      <p:sp>
        <p:nvSpPr>
          <p:cNvPr id="5" name="Rectangle 4"/>
          <p:cNvSpPr/>
          <p:nvPr/>
        </p:nvSpPr>
        <p:spPr>
          <a:xfrm>
            <a:off x="731520" y="822960"/>
            <a:ext cx="274320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280160"/>
            <a:ext cx="2011680" cy="22860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63040"/>
            <a:ext cx="1828800" cy="640080"/>
          </a:xfrm>
          <a:prstGeom prst="rect">
            <a:avLst/>
          </a:prstGeom>
          <a:noFill/>
        </p:spPr>
        <p:txBody>
          <a:bodyPr wrap="square">
            <a:spAutoFit/>
          </a:bodyPr>
          <a:lstStyle/>
          <a:p>
            <a:pPr algn="ctr">
              <a:defRPr sz="1700" b="1">
                <a:solidFill>
                  <a:srgbClr val="00D4FF"/>
                </a:solidFill>
                <a:latin typeface="Segoe UI"/>
              </a:defRPr>
            </a:pPr>
            <a:r>
              <a:t>User Query</a:t>
            </a:r>
          </a:p>
        </p:txBody>
      </p:sp>
      <p:sp>
        <p:nvSpPr>
          <p:cNvPr id="8" name="TextBox 7"/>
          <p:cNvSpPr txBox="1"/>
          <p:nvPr/>
        </p:nvSpPr>
        <p:spPr>
          <a:xfrm>
            <a:off x="457200" y="2286000"/>
            <a:ext cx="1828800" cy="914400"/>
          </a:xfrm>
          <a:prstGeom prst="rect">
            <a:avLst/>
          </a:prstGeom>
          <a:noFill/>
        </p:spPr>
        <p:txBody>
          <a:bodyPr wrap="square">
            <a:spAutoFit/>
          </a:bodyPr>
          <a:lstStyle/>
          <a:p>
            <a:pPr algn="ctr">
              <a:defRPr sz="1400" b="0">
                <a:solidFill>
                  <a:srgbClr val="CCCCCC"/>
                </a:solidFill>
                <a:latin typeface="Segoe UI"/>
              </a:defRPr>
            </a:pPr>
            <a:r>
              <a:t>Natural language</a:t>
            </a:r>
            <a:br/>
            <a:r>
              <a:t>question arrives</a:t>
            </a:r>
          </a:p>
        </p:txBody>
      </p:sp>
      <p:sp>
        <p:nvSpPr>
          <p:cNvPr id="9" name="Rounded Rectangle 8"/>
          <p:cNvSpPr/>
          <p:nvPr/>
        </p:nvSpPr>
        <p:spPr>
          <a:xfrm>
            <a:off x="2560320" y="1280160"/>
            <a:ext cx="2011680" cy="228600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51760" y="1463040"/>
            <a:ext cx="1828800" cy="640080"/>
          </a:xfrm>
          <a:prstGeom prst="rect">
            <a:avLst/>
          </a:prstGeom>
          <a:noFill/>
        </p:spPr>
        <p:txBody>
          <a:bodyPr wrap="square">
            <a:spAutoFit/>
          </a:bodyPr>
          <a:lstStyle/>
          <a:p>
            <a:pPr algn="ctr">
              <a:defRPr sz="1700" b="1">
                <a:solidFill>
                  <a:srgbClr val="00E676"/>
                </a:solidFill>
                <a:latin typeface="Segoe UI"/>
              </a:defRPr>
            </a:pPr>
            <a:r>
              <a:t>Intent</a:t>
            </a:r>
            <a:br/>
            <a:r>
              <a:t>Classification</a:t>
            </a:r>
          </a:p>
        </p:txBody>
      </p:sp>
      <p:sp>
        <p:nvSpPr>
          <p:cNvPr id="11" name="TextBox 10"/>
          <p:cNvSpPr txBox="1"/>
          <p:nvPr/>
        </p:nvSpPr>
        <p:spPr>
          <a:xfrm>
            <a:off x="2651760" y="2286000"/>
            <a:ext cx="1828800" cy="914400"/>
          </a:xfrm>
          <a:prstGeom prst="rect">
            <a:avLst/>
          </a:prstGeom>
          <a:noFill/>
        </p:spPr>
        <p:txBody>
          <a:bodyPr wrap="square">
            <a:spAutoFit/>
          </a:bodyPr>
          <a:lstStyle/>
          <a:p>
            <a:pPr algn="ctr">
              <a:defRPr sz="1400" b="0">
                <a:solidFill>
                  <a:srgbClr val="CCCCCC"/>
                </a:solidFill>
                <a:latin typeface="Segoe UI"/>
              </a:defRPr>
            </a:pPr>
            <a:r>
              <a:t>Route to correct</a:t>
            </a:r>
            <a:br/>
            <a:r>
              <a:t>handler/mode</a:t>
            </a:r>
          </a:p>
        </p:txBody>
      </p:sp>
      <p:sp>
        <p:nvSpPr>
          <p:cNvPr id="12" name="Rounded Rectangle 11"/>
          <p:cNvSpPr/>
          <p:nvPr/>
        </p:nvSpPr>
        <p:spPr>
          <a:xfrm>
            <a:off x="4754880" y="1280160"/>
            <a:ext cx="2011680" cy="22860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1463040"/>
            <a:ext cx="1828800" cy="640080"/>
          </a:xfrm>
          <a:prstGeom prst="rect">
            <a:avLst/>
          </a:prstGeom>
          <a:noFill/>
        </p:spPr>
        <p:txBody>
          <a:bodyPr wrap="square">
            <a:spAutoFit/>
          </a:bodyPr>
          <a:lstStyle/>
          <a:p>
            <a:pPr algn="ctr">
              <a:defRPr sz="1700" b="1">
                <a:solidFill>
                  <a:srgbClr val="FF8C00"/>
                </a:solidFill>
                <a:latin typeface="Segoe UI"/>
              </a:defRPr>
            </a:pPr>
            <a:r>
              <a:t>Batch</a:t>
            </a:r>
            <a:br/>
            <a:r>
              <a:t>Embedding</a:t>
            </a:r>
          </a:p>
        </p:txBody>
      </p:sp>
      <p:sp>
        <p:nvSpPr>
          <p:cNvPr id="14" name="TextBox 13"/>
          <p:cNvSpPr txBox="1"/>
          <p:nvPr/>
        </p:nvSpPr>
        <p:spPr>
          <a:xfrm>
            <a:off x="4846320" y="2286000"/>
            <a:ext cx="1828800" cy="914400"/>
          </a:xfrm>
          <a:prstGeom prst="rect">
            <a:avLst/>
          </a:prstGeom>
          <a:noFill/>
        </p:spPr>
        <p:txBody>
          <a:bodyPr wrap="square">
            <a:spAutoFit/>
          </a:bodyPr>
          <a:lstStyle/>
          <a:p>
            <a:pPr algn="ctr">
              <a:defRPr sz="1400" b="0">
                <a:solidFill>
                  <a:srgbClr val="CCCCCC"/>
                </a:solidFill>
                <a:latin typeface="Segoe UI"/>
              </a:defRPr>
            </a:pPr>
            <a:r>
              <a:t>Encode query +</a:t>
            </a:r>
            <a:br/>
            <a:r>
              <a:t>entity names</a:t>
            </a:r>
          </a:p>
        </p:txBody>
      </p:sp>
      <p:sp>
        <p:nvSpPr>
          <p:cNvPr id="15" name="Rounded Rectangle 14"/>
          <p:cNvSpPr/>
          <p:nvPr/>
        </p:nvSpPr>
        <p:spPr>
          <a:xfrm>
            <a:off x="6949440" y="1280160"/>
            <a:ext cx="2011680" cy="2286000"/>
          </a:xfrm>
          <a:prstGeom prst="roundRect">
            <a:avLst/>
          </a:prstGeom>
          <a:solidFill>
            <a:srgbClr val="16213E"/>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79" y="1463040"/>
            <a:ext cx="1828800" cy="640080"/>
          </a:xfrm>
          <a:prstGeom prst="rect">
            <a:avLst/>
          </a:prstGeom>
          <a:noFill/>
        </p:spPr>
        <p:txBody>
          <a:bodyPr wrap="square">
            <a:spAutoFit/>
          </a:bodyPr>
          <a:lstStyle/>
          <a:p>
            <a:pPr algn="ctr">
              <a:defRPr sz="1700" b="1">
                <a:solidFill>
                  <a:srgbClr val="BB86FC"/>
                </a:solidFill>
                <a:latin typeface="Segoe UI"/>
              </a:defRPr>
            </a:pPr>
            <a:r>
              <a:t>Vector</a:t>
            </a:r>
            <a:br/>
            <a:r>
              <a:t>Search</a:t>
            </a:r>
          </a:p>
        </p:txBody>
      </p:sp>
      <p:sp>
        <p:nvSpPr>
          <p:cNvPr id="17" name="TextBox 16"/>
          <p:cNvSpPr txBox="1"/>
          <p:nvPr/>
        </p:nvSpPr>
        <p:spPr>
          <a:xfrm>
            <a:off x="7040879" y="2286000"/>
            <a:ext cx="1828800" cy="914400"/>
          </a:xfrm>
          <a:prstGeom prst="rect">
            <a:avLst/>
          </a:prstGeom>
          <a:noFill/>
        </p:spPr>
        <p:txBody>
          <a:bodyPr wrap="square">
            <a:spAutoFit/>
          </a:bodyPr>
          <a:lstStyle/>
          <a:p>
            <a:pPr algn="ctr">
              <a:defRPr sz="1400" b="0">
                <a:solidFill>
                  <a:srgbClr val="CCCCCC"/>
                </a:solidFill>
                <a:latin typeface="Segoe UI"/>
              </a:defRPr>
            </a:pPr>
            <a:r>
              <a:t>Qdrant cosine</a:t>
            </a:r>
            <a:br/>
            <a:r>
              <a:t>+ BM25/RRF</a:t>
            </a:r>
          </a:p>
        </p:txBody>
      </p:sp>
      <p:sp>
        <p:nvSpPr>
          <p:cNvPr id="18" name="Rounded Rectangle 17"/>
          <p:cNvSpPr/>
          <p:nvPr/>
        </p:nvSpPr>
        <p:spPr>
          <a:xfrm>
            <a:off x="9144000" y="1280160"/>
            <a:ext cx="2011680" cy="22860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0" y="1463040"/>
            <a:ext cx="1828800" cy="640080"/>
          </a:xfrm>
          <a:prstGeom prst="rect">
            <a:avLst/>
          </a:prstGeom>
          <a:noFill/>
        </p:spPr>
        <p:txBody>
          <a:bodyPr wrap="square">
            <a:spAutoFit/>
          </a:bodyPr>
          <a:lstStyle/>
          <a:p>
            <a:pPr algn="ctr">
              <a:defRPr sz="1700" b="1">
                <a:solidFill>
                  <a:srgbClr val="00D4FF"/>
                </a:solidFill>
                <a:latin typeface="Segoe UI"/>
              </a:defRPr>
            </a:pPr>
            <a:r>
              <a:t>Context</a:t>
            </a:r>
            <a:br/>
            <a:r>
              <a:t>Assembly</a:t>
            </a:r>
          </a:p>
        </p:txBody>
      </p:sp>
      <p:sp>
        <p:nvSpPr>
          <p:cNvPr id="20" name="TextBox 19"/>
          <p:cNvSpPr txBox="1"/>
          <p:nvPr/>
        </p:nvSpPr>
        <p:spPr>
          <a:xfrm>
            <a:off x="9235440" y="2286000"/>
            <a:ext cx="1828800" cy="914400"/>
          </a:xfrm>
          <a:prstGeom prst="rect">
            <a:avLst/>
          </a:prstGeom>
          <a:noFill/>
        </p:spPr>
        <p:txBody>
          <a:bodyPr wrap="square">
            <a:spAutoFit/>
          </a:bodyPr>
          <a:lstStyle/>
          <a:p>
            <a:pPr algn="ctr">
              <a:defRPr sz="1400" b="0">
                <a:solidFill>
                  <a:srgbClr val="CCCCCC"/>
                </a:solidFill>
                <a:latin typeface="Segoe UI"/>
              </a:defRPr>
            </a:pPr>
            <a:r>
              <a:t>Top-K chunks +</a:t>
            </a:r>
            <a:br/>
            <a:r>
              <a:t>tool results</a:t>
            </a:r>
          </a:p>
        </p:txBody>
      </p:sp>
      <p:sp>
        <p:nvSpPr>
          <p:cNvPr id="21" name="TextBox 20"/>
          <p:cNvSpPr txBox="1"/>
          <p:nvPr/>
        </p:nvSpPr>
        <p:spPr>
          <a:xfrm>
            <a:off x="731520" y="3931920"/>
            <a:ext cx="10972800" cy="457200"/>
          </a:xfrm>
          <a:prstGeom prst="rect">
            <a:avLst/>
          </a:prstGeom>
          <a:noFill/>
        </p:spPr>
        <p:txBody>
          <a:bodyPr wrap="square">
            <a:spAutoFit/>
          </a:bodyPr>
          <a:lstStyle/>
          <a:p>
            <a:pPr algn="l">
              <a:defRPr sz="2200" b="1">
                <a:solidFill>
                  <a:srgbClr val="FFFFFF"/>
                </a:solidFill>
                <a:latin typeface="Segoe UI"/>
              </a:defRPr>
            </a:pPr>
            <a:r>
              <a:t>What Makes Jarvis Different from Basic RAG:</a:t>
            </a:r>
          </a:p>
        </p:txBody>
      </p:sp>
      <p:sp>
        <p:nvSpPr>
          <p:cNvPr id="22" name="TextBox 21"/>
          <p:cNvSpPr txBox="1"/>
          <p:nvPr/>
        </p:nvSpPr>
        <p:spPr>
          <a:xfrm>
            <a:off x="731520" y="4480560"/>
            <a:ext cx="5486400" cy="2286000"/>
          </a:xfrm>
          <a:prstGeom prst="rect">
            <a:avLst/>
          </a:prstGeom>
          <a:noFill/>
        </p:spPr>
        <p:txBody>
          <a:bodyPr wrap="square">
            <a:spAutoFit/>
          </a:bodyPr>
          <a:lstStyle/>
          <a:p>
            <a:pPr>
              <a:spcAft>
                <a:spcPts val="600"/>
              </a:spcAft>
              <a:defRPr sz="1600">
                <a:solidFill>
                  <a:srgbClr val="CCCCCC"/>
                </a:solidFill>
                <a:latin typeface="Segoe UI"/>
              </a:defRPr>
            </a:pPr>
            <a:r>
              <a:t>•  Always-on: RAG runs on EVERY query, no LLM decision needed</a:t>
            </a:r>
          </a:p>
          <a:p>
            <a:pPr>
              <a:spcAft>
                <a:spcPts val="600"/>
              </a:spcAft>
              <a:defRPr sz="1600">
                <a:solidFill>
                  <a:srgbClr val="CCCCCC"/>
                </a:solidFill>
                <a:latin typeface="Segoe UI"/>
              </a:defRPr>
            </a:pPr>
            <a:r>
              <a:t>•  Hybrid search: Vector + BM25 keyword with RRF fusion</a:t>
            </a:r>
          </a:p>
          <a:p>
            <a:pPr>
              <a:spcAft>
                <a:spcPts val="600"/>
              </a:spcAft>
              <a:defRPr sz="1600">
                <a:solidFill>
                  <a:srgbClr val="CCCCCC"/>
                </a:solidFill>
                <a:latin typeface="Segoe UI"/>
              </a:defRPr>
            </a:pPr>
            <a:r>
              <a:t>•  Entity-aware: Filters by author, wiki type, project</a:t>
            </a:r>
          </a:p>
          <a:p>
            <a:pPr>
              <a:spcAft>
                <a:spcPts val="600"/>
              </a:spcAft>
              <a:defRPr sz="1600">
                <a:solidFill>
                  <a:srgbClr val="CCCCCC"/>
                </a:solidFill>
                <a:latin typeface="Segoe UI"/>
              </a:defRPr>
            </a:pPr>
            <a:r>
              <a:t>•  Vague query rewrite: LLM rewrites unclear questions</a:t>
            </a:r>
          </a:p>
        </p:txBody>
      </p:sp>
      <p:sp>
        <p:nvSpPr>
          <p:cNvPr id="23" name="TextBox 22"/>
          <p:cNvSpPr txBox="1"/>
          <p:nvPr/>
        </p:nvSpPr>
        <p:spPr>
          <a:xfrm>
            <a:off x="6400800" y="4480560"/>
            <a:ext cx="5486400" cy="2286000"/>
          </a:xfrm>
          <a:prstGeom prst="rect">
            <a:avLst/>
          </a:prstGeom>
          <a:noFill/>
        </p:spPr>
        <p:txBody>
          <a:bodyPr wrap="square">
            <a:spAutoFit/>
          </a:bodyPr>
          <a:lstStyle/>
          <a:p>
            <a:pPr>
              <a:spcAft>
                <a:spcPts val="600"/>
              </a:spcAft>
              <a:defRPr sz="1600">
                <a:solidFill>
                  <a:srgbClr val="CCCCCC"/>
                </a:solidFill>
                <a:latin typeface="Segoe UI"/>
              </a:defRPr>
            </a:pPr>
            <a:r>
              <a:t>•  Parallel execution: RAG + tools run concurrently</a:t>
            </a:r>
          </a:p>
          <a:p>
            <a:pPr>
              <a:spcAft>
                <a:spcPts val="600"/>
              </a:spcAft>
              <a:defRPr sz="1600">
                <a:solidFill>
                  <a:srgbClr val="CCCCCC"/>
                </a:solidFill>
                <a:latin typeface="Segoe UI"/>
              </a:defRPr>
            </a:pPr>
            <a:r>
              <a:t>•  Project graph expansion: Follow dependency chains</a:t>
            </a:r>
          </a:p>
          <a:p>
            <a:pPr>
              <a:spcAft>
                <a:spcPts val="600"/>
              </a:spcAft>
              <a:defRPr sz="1600">
                <a:solidFill>
                  <a:srgbClr val="CCCCCC"/>
                </a:solidFill>
                <a:latin typeface="Segoe UI"/>
              </a:defRPr>
            </a:pPr>
            <a:r>
              <a:t>•  Adaptive prompting: Compact vs full system prompt</a:t>
            </a:r>
          </a:p>
          <a:p>
            <a:pPr>
              <a:spcAft>
                <a:spcPts val="600"/>
              </a:spcAft>
              <a:defRPr sz="1600">
                <a:solidFill>
                  <a:srgbClr val="CCCCCC"/>
                </a:solidFill>
                <a:latin typeface="Segoe UI"/>
              </a:defRPr>
            </a:pPr>
            <a:r>
              <a:t>•  Confidence scoring: Disclaimers on low-confidence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00D4FF"/>
                </a:solidFill>
                <a:latin typeface="Segoe UI"/>
              </a:defRPr>
            </a:pPr>
            <a:r>
              <a:t>Query Pipeline: End-to-End Data Flow</a:t>
            </a:r>
          </a:p>
        </p:txBody>
      </p:sp>
      <p:sp>
        <p:nvSpPr>
          <p:cNvPr id="5" name="Rectangle 4"/>
          <p:cNvSpPr/>
          <p:nvPr/>
        </p:nvSpPr>
        <p:spPr>
          <a:xfrm>
            <a:off x="731520" y="822960"/>
            <a:ext cx="274320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371600"/>
            <a:ext cx="11247120" cy="502920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54480"/>
            <a:ext cx="10789920" cy="4572000"/>
          </a:xfrm>
          <a:prstGeom prst="rect">
            <a:avLst/>
          </a:prstGeom>
          <a:noFill/>
        </p:spPr>
        <p:txBody>
          <a:bodyPr wrap="square">
            <a:spAutoFit/>
          </a:bodyPr>
          <a:lstStyle/>
          <a:p>
            <a:pPr>
              <a:spcAft>
                <a:spcPts val="600"/>
              </a:spcAft>
              <a:defRPr sz="1500">
                <a:solidFill>
                  <a:srgbClr val="CCCCCC"/>
                </a:solidFill>
                <a:latin typeface="Consolas"/>
              </a:defRPr>
            </a:pPr>
            <a:r>
              <a:t>User Query  ────────────────────────────────────────────────────────</a:t>
            </a:r>
          </a:p>
          <a:p>
            <a:pPr>
              <a:spcAft>
                <a:spcPts val="600"/>
              </a:spcAft>
              <a:defRPr sz="1500">
                <a:solidFill>
                  <a:srgbClr val="CCCCCC"/>
                </a:solidFill>
                <a:latin typeface="Consolas"/>
              </a:defRPr>
            </a:pPr>
            <a:r>
              <a:t>   │</a:t>
            </a:r>
          </a:p>
          <a:p>
            <a:pPr>
              <a:spcAft>
                <a:spcPts val="600"/>
              </a:spcAft>
              <a:defRPr sz="1500">
                <a:solidFill>
                  <a:srgbClr val="CCCCCC"/>
                </a:solidFill>
                <a:latin typeface="Consolas"/>
              </a:defRPr>
            </a:pPr>
            <a:r>
              <a:t>   ├─── [Thread 1] Auto-RAG Search</a:t>
            </a:r>
          </a:p>
          <a:p>
            <a:pPr>
              <a:spcAft>
                <a:spcPts val="600"/>
              </a:spcAft>
              <a:defRPr sz="1500">
                <a:solidFill>
                  <a:srgbClr val="CCCCCC"/>
                </a:solidFill>
                <a:latin typeface="Consolas"/>
              </a:defRPr>
            </a:pPr>
            <a:r>
              <a:t>   │       1. Vague query? → LLM rewrite (0.5s)</a:t>
            </a:r>
          </a:p>
          <a:p>
            <a:pPr>
              <a:spcAft>
                <a:spcPts val="600"/>
              </a:spcAft>
              <a:defRPr sz="1500">
                <a:solidFill>
                  <a:srgbClr val="CCCCCC"/>
                </a:solidFill>
                <a:latin typeface="Consolas"/>
              </a:defRPr>
            </a:pPr>
            <a:r>
              <a:t>   │       2. Batch-encode query + entity names (24ms)</a:t>
            </a:r>
          </a:p>
          <a:p>
            <a:pPr>
              <a:spcAft>
                <a:spcPts val="600"/>
              </a:spcAft>
              <a:defRPr sz="1500">
                <a:solidFill>
                  <a:srgbClr val="CCCCCC"/>
                </a:solidFill>
                <a:latin typeface="Consolas"/>
              </a:defRPr>
            </a:pPr>
            <a:r>
              <a:t>   │       3. Qdrant vector search (35ms)</a:t>
            </a:r>
          </a:p>
          <a:p>
            <a:pPr>
              <a:spcAft>
                <a:spcPts val="600"/>
              </a:spcAft>
              <a:defRPr sz="1500">
                <a:solidFill>
                  <a:srgbClr val="CCCCCC"/>
                </a:solidFill>
                <a:latin typeface="Consolas"/>
              </a:defRPr>
            </a:pPr>
            <a:r>
              <a:t>   │       4. BM25 keyword search + RRF fusion</a:t>
            </a:r>
          </a:p>
          <a:p>
            <a:pPr>
              <a:spcAft>
                <a:spcPts val="600"/>
              </a:spcAft>
              <a:defRPr sz="1500">
                <a:solidFill>
                  <a:srgbClr val="CCCCCC"/>
                </a:solidFill>
                <a:latin typeface="Consolas"/>
              </a:defRPr>
            </a:pPr>
            <a:r>
              <a:t>   │       5. Entity/wiki/project filters → top 5 chunks</a:t>
            </a:r>
          </a:p>
          <a:p>
            <a:pPr>
              <a:spcAft>
                <a:spcPts val="600"/>
              </a:spcAft>
              <a:defRPr sz="1500">
                <a:solidFill>
                  <a:srgbClr val="CCCCCC"/>
                </a:solidFill>
                <a:latin typeface="Consolas"/>
              </a:defRPr>
            </a:pPr>
            <a:r>
              <a:t>   │</a:t>
            </a:r>
          </a:p>
          <a:p>
            <a:pPr>
              <a:spcAft>
                <a:spcPts val="600"/>
              </a:spcAft>
              <a:defRPr sz="1500">
                <a:solidFill>
                  <a:srgbClr val="CCCCCC"/>
                </a:solidFill>
                <a:latin typeface="Consolas"/>
              </a:defRPr>
            </a:pPr>
            <a:r>
              <a:t>   ├─── [Thread 2] Auto-Tool: commit_summary (if detected)</a:t>
            </a:r>
          </a:p>
          <a:p>
            <a:pPr>
              <a:spcAft>
                <a:spcPts val="600"/>
              </a:spcAft>
              <a:defRPr sz="1500">
                <a:solidFill>
                  <a:srgbClr val="CCCCCC"/>
                </a:solidFill>
                <a:latin typeface="Consolas"/>
              </a:defRPr>
            </a:pPr>
            <a:r>
              <a:t>   ├─── [Thread 3] Auto-Tool: jira_report (if detected)</a:t>
            </a:r>
          </a:p>
          <a:p>
            <a:pPr>
              <a:spcAft>
                <a:spcPts val="600"/>
              </a:spcAft>
              <a:defRPr sz="1500">
                <a:solidFill>
                  <a:srgbClr val="CCCCCC"/>
                </a:solidFill>
                <a:latin typeface="Consolas"/>
              </a:defRPr>
            </a:pPr>
            <a:r>
              <a:t>   │</a:t>
            </a:r>
          </a:p>
          <a:p>
            <a:pPr>
              <a:spcAft>
                <a:spcPts val="600"/>
              </a:spcAft>
              <a:defRPr sz="1500">
                <a:solidFill>
                  <a:srgbClr val="CCCCCC"/>
                </a:solidFill>
                <a:latin typeface="Consolas"/>
              </a:defRPr>
            </a:pPr>
            <a:r>
              <a:t>   └─── Assemble Augmented Prompt → Ollama Streaming → SSE to UI</a:t>
            </a:r>
          </a:p>
          <a:p>
            <a:pPr>
              <a:spcAft>
                <a:spcPts val="600"/>
              </a:spcAft>
              <a:defRPr sz="1500">
                <a:solidFill>
                  <a:srgbClr val="CCCCCC"/>
                </a:solidFill>
                <a:latin typeface="Consolas"/>
              </a:defRPr>
            </a:pPr>
            <a:r>
              <a:t>                                               │</a:t>
            </a:r>
          </a:p>
          <a:p>
            <a:pPr>
              <a:spcAft>
                <a:spcPts val="600"/>
              </a:spcAft>
              <a:defRPr sz="1500">
                <a:solidFill>
                  <a:srgbClr val="CCCCCC"/>
                </a:solidFill>
                <a:latin typeface="Consolas"/>
              </a:defRPr>
            </a:pPr>
            <a:r>
              <a:t>                       If tool calls needed → execute → loop 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108960"/>
            <a:ext cx="12191695" cy="54864"/>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5000" b="1">
                <a:solidFill>
                  <a:srgbClr val="00E676"/>
                </a:solidFill>
                <a:latin typeface="Segoe UI"/>
              </a:defRPr>
            </a:pPr>
            <a:r>
              <a:t>LIVE DEMO</a:t>
            </a:r>
          </a:p>
        </p:txBody>
      </p:sp>
      <p:sp>
        <p:nvSpPr>
          <p:cNvPr id="5" name="TextBox 4"/>
          <p:cNvSpPr txBox="1"/>
          <p:nvPr/>
        </p:nvSpPr>
        <p:spPr>
          <a:xfrm>
            <a:off x="914400" y="3383280"/>
            <a:ext cx="10058400" cy="731520"/>
          </a:xfrm>
          <a:prstGeom prst="rect">
            <a:avLst/>
          </a:prstGeom>
          <a:noFill/>
        </p:spPr>
        <p:txBody>
          <a:bodyPr wrap="square">
            <a:spAutoFit/>
          </a:bodyPr>
          <a:lstStyle/>
          <a:p>
            <a:pPr algn="ctr">
              <a:defRPr sz="3600" b="0">
                <a:solidFill>
                  <a:srgbClr val="FFFFFF"/>
                </a:solidFill>
                <a:latin typeface="Segoe UI"/>
              </a:defRPr>
            </a:pPr>
            <a:r>
              <a:t>Daily Fetch Pipeline</a:t>
            </a:r>
          </a:p>
        </p:txBody>
      </p:sp>
      <p:sp>
        <p:nvSpPr>
          <p:cNvPr id="6" name="TextBox 5"/>
          <p:cNvSpPr txBox="1"/>
          <p:nvPr/>
        </p:nvSpPr>
        <p:spPr>
          <a:xfrm>
            <a:off x="914400" y="4206240"/>
            <a:ext cx="10058400" cy="548640"/>
          </a:xfrm>
          <a:prstGeom prst="rect">
            <a:avLst/>
          </a:prstGeom>
          <a:noFill/>
        </p:spPr>
        <p:txBody>
          <a:bodyPr wrap="square">
            <a:spAutoFit/>
          </a:bodyPr>
          <a:lstStyle/>
          <a:p>
            <a:pPr algn="ctr">
              <a:defRPr sz="2000" b="0">
                <a:solidFill>
                  <a:srgbClr val="AAAAAA"/>
                </a:solidFill>
                <a:latin typeface="Segoe UI"/>
              </a:defRPr>
            </a:pPr>
            <a:r>
              <a:t>AI Briefing  •  News Sources  •  Audio Generation  •  Knowledge Search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00E676"/>
                </a:solidFill>
                <a:latin typeface="Segoe UI"/>
              </a:defRPr>
            </a:pPr>
            <a:r>
              <a:t>Daily Fetch: Full Pipeline</a:t>
            </a:r>
          </a:p>
        </p:txBody>
      </p:sp>
      <p:sp>
        <p:nvSpPr>
          <p:cNvPr id="5" name="Rectangle 4"/>
          <p:cNvSpPr/>
          <p:nvPr/>
        </p:nvSpPr>
        <p:spPr>
          <a:xfrm>
            <a:off x="731520" y="822960"/>
            <a:ext cx="1828800"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280160"/>
            <a:ext cx="5029200" cy="118872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417319"/>
            <a:ext cx="4572000" cy="365760"/>
          </a:xfrm>
          <a:prstGeom prst="rect">
            <a:avLst/>
          </a:prstGeom>
          <a:noFill/>
        </p:spPr>
        <p:txBody>
          <a:bodyPr wrap="square">
            <a:spAutoFit/>
          </a:bodyPr>
          <a:lstStyle/>
          <a:p>
            <a:pPr algn="l">
              <a:defRPr sz="2000" b="1">
                <a:solidFill>
                  <a:srgbClr val="00D4FF"/>
                </a:solidFill>
                <a:latin typeface="Segoe UI"/>
              </a:defRPr>
            </a:pPr>
            <a:r>
              <a:t>1. Fetch Sources</a:t>
            </a:r>
          </a:p>
        </p:txBody>
      </p:sp>
      <p:sp>
        <p:nvSpPr>
          <p:cNvPr id="8" name="TextBox 7"/>
          <p:cNvSpPr txBox="1"/>
          <p:nvPr/>
        </p:nvSpPr>
        <p:spPr>
          <a:xfrm>
            <a:off x="1005840" y="1828800"/>
            <a:ext cx="4572000" cy="548640"/>
          </a:xfrm>
          <a:prstGeom prst="rect">
            <a:avLst/>
          </a:prstGeom>
          <a:noFill/>
        </p:spPr>
        <p:txBody>
          <a:bodyPr wrap="square">
            <a:spAutoFit/>
          </a:bodyPr>
          <a:lstStyle/>
          <a:p>
            <a:pPr algn="l">
              <a:defRPr sz="1500" b="0">
                <a:solidFill>
                  <a:srgbClr val="CCCCCC"/>
                </a:solidFill>
                <a:latin typeface="Segoe UI"/>
              </a:defRPr>
            </a:pPr>
            <a:r>
              <a:t>16 parallel fetchers scrape</a:t>
            </a:r>
            <a:br/>
            <a:r>
              <a:t>AI news from authoritative sources</a:t>
            </a:r>
          </a:p>
        </p:txBody>
      </p:sp>
      <p:sp>
        <p:nvSpPr>
          <p:cNvPr id="9" name="Rounded Rectangle 8"/>
          <p:cNvSpPr/>
          <p:nvPr/>
        </p:nvSpPr>
        <p:spPr>
          <a:xfrm>
            <a:off x="731520" y="2697480"/>
            <a:ext cx="5029200" cy="118872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834640"/>
            <a:ext cx="4572000" cy="365760"/>
          </a:xfrm>
          <a:prstGeom prst="rect">
            <a:avLst/>
          </a:prstGeom>
          <a:noFill/>
        </p:spPr>
        <p:txBody>
          <a:bodyPr wrap="square">
            <a:spAutoFit/>
          </a:bodyPr>
          <a:lstStyle/>
          <a:p>
            <a:pPr algn="l">
              <a:defRPr sz="2000" b="1">
                <a:solidFill>
                  <a:srgbClr val="00E676"/>
                </a:solidFill>
                <a:latin typeface="Segoe UI"/>
              </a:defRPr>
            </a:pPr>
            <a:r>
              <a:t>2. Topic Dedup</a:t>
            </a:r>
          </a:p>
        </p:txBody>
      </p:sp>
      <p:sp>
        <p:nvSpPr>
          <p:cNvPr id="11" name="TextBox 10"/>
          <p:cNvSpPr txBox="1"/>
          <p:nvPr/>
        </p:nvSpPr>
        <p:spPr>
          <a:xfrm>
            <a:off x="1005840" y="3246120"/>
            <a:ext cx="4572000" cy="548640"/>
          </a:xfrm>
          <a:prstGeom prst="rect">
            <a:avLst/>
          </a:prstGeom>
          <a:noFill/>
        </p:spPr>
        <p:txBody>
          <a:bodyPr wrap="square">
            <a:spAutoFit/>
          </a:bodyPr>
          <a:lstStyle/>
          <a:p>
            <a:pPr algn="l">
              <a:defRPr sz="1500" b="0">
                <a:solidFill>
                  <a:srgbClr val="CCCCCC"/>
                </a:solidFill>
                <a:latin typeface="Segoe UI"/>
              </a:defRPr>
            </a:pPr>
            <a:r>
              <a:t>LLM-based deduplication</a:t>
            </a:r>
            <a:br/>
            <a:r>
              <a:t>merges overlapping stories</a:t>
            </a:r>
          </a:p>
        </p:txBody>
      </p:sp>
      <p:sp>
        <p:nvSpPr>
          <p:cNvPr id="12" name="Rounded Rectangle 11"/>
          <p:cNvSpPr/>
          <p:nvPr/>
        </p:nvSpPr>
        <p:spPr>
          <a:xfrm>
            <a:off x="731520" y="4114800"/>
            <a:ext cx="5029200" cy="118872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4251960"/>
            <a:ext cx="4572000" cy="365760"/>
          </a:xfrm>
          <a:prstGeom prst="rect">
            <a:avLst/>
          </a:prstGeom>
          <a:noFill/>
        </p:spPr>
        <p:txBody>
          <a:bodyPr wrap="square">
            <a:spAutoFit/>
          </a:bodyPr>
          <a:lstStyle/>
          <a:p>
            <a:pPr algn="l">
              <a:defRPr sz="2000" b="1">
                <a:solidFill>
                  <a:srgbClr val="FF8C00"/>
                </a:solidFill>
                <a:latin typeface="Segoe UI"/>
              </a:defRPr>
            </a:pPr>
            <a:r>
              <a:t>3. Commit Report</a:t>
            </a:r>
          </a:p>
        </p:txBody>
      </p:sp>
      <p:sp>
        <p:nvSpPr>
          <p:cNvPr id="14" name="TextBox 13"/>
          <p:cNvSpPr txBox="1"/>
          <p:nvPr/>
        </p:nvSpPr>
        <p:spPr>
          <a:xfrm>
            <a:off x="1005840" y="4663440"/>
            <a:ext cx="4572000" cy="548640"/>
          </a:xfrm>
          <a:prstGeom prst="rect">
            <a:avLst/>
          </a:prstGeom>
          <a:noFill/>
        </p:spPr>
        <p:txBody>
          <a:bodyPr wrap="square">
            <a:spAutoFit/>
          </a:bodyPr>
          <a:lstStyle/>
          <a:p>
            <a:pPr algn="l">
              <a:defRPr sz="1500" b="0">
                <a:solidFill>
                  <a:srgbClr val="CCCCCC"/>
                </a:solidFill>
                <a:latin typeface="Segoe UI"/>
              </a:defRPr>
            </a:pPr>
            <a:r>
              <a:t>Multi-repo git log summary</a:t>
            </a:r>
            <a:br/>
            <a:r>
              <a:t>for the past day</a:t>
            </a:r>
          </a:p>
        </p:txBody>
      </p:sp>
      <p:sp>
        <p:nvSpPr>
          <p:cNvPr id="15" name="Rounded Rectangle 14"/>
          <p:cNvSpPr/>
          <p:nvPr/>
        </p:nvSpPr>
        <p:spPr>
          <a:xfrm>
            <a:off x="6400800" y="1280160"/>
            <a:ext cx="5029200" cy="1188720"/>
          </a:xfrm>
          <a:prstGeom prst="roundRect">
            <a:avLst/>
          </a:prstGeom>
          <a:solidFill>
            <a:srgbClr val="16213E"/>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1417319"/>
            <a:ext cx="4572000" cy="365760"/>
          </a:xfrm>
          <a:prstGeom prst="rect">
            <a:avLst/>
          </a:prstGeom>
          <a:noFill/>
        </p:spPr>
        <p:txBody>
          <a:bodyPr wrap="square">
            <a:spAutoFit/>
          </a:bodyPr>
          <a:lstStyle/>
          <a:p>
            <a:pPr algn="l">
              <a:defRPr sz="2000" b="1">
                <a:solidFill>
                  <a:srgbClr val="BB86FC"/>
                </a:solidFill>
                <a:latin typeface="Segoe UI"/>
              </a:defRPr>
            </a:pPr>
            <a:r>
              <a:t>4. Jira Daily</a:t>
            </a:r>
          </a:p>
        </p:txBody>
      </p:sp>
      <p:sp>
        <p:nvSpPr>
          <p:cNvPr id="17" name="TextBox 16"/>
          <p:cNvSpPr txBox="1"/>
          <p:nvPr/>
        </p:nvSpPr>
        <p:spPr>
          <a:xfrm>
            <a:off x="6675120" y="1828800"/>
            <a:ext cx="4572000" cy="548640"/>
          </a:xfrm>
          <a:prstGeom prst="rect">
            <a:avLst/>
          </a:prstGeom>
          <a:noFill/>
        </p:spPr>
        <p:txBody>
          <a:bodyPr wrap="square">
            <a:spAutoFit/>
          </a:bodyPr>
          <a:lstStyle/>
          <a:p>
            <a:pPr algn="l">
              <a:defRPr sz="1500" b="0">
                <a:solidFill>
                  <a:srgbClr val="CCCCCC"/>
                </a:solidFill>
                <a:latin typeface="Segoe UI"/>
              </a:defRPr>
            </a:pPr>
            <a:r>
              <a:t>Open tickets, sprint activity</a:t>
            </a:r>
            <a:br/>
            <a:r>
              <a:t>auto-generated report</a:t>
            </a:r>
          </a:p>
        </p:txBody>
      </p:sp>
      <p:sp>
        <p:nvSpPr>
          <p:cNvPr id="18" name="Rounded Rectangle 17"/>
          <p:cNvSpPr/>
          <p:nvPr/>
        </p:nvSpPr>
        <p:spPr>
          <a:xfrm>
            <a:off x="6400800" y="2697480"/>
            <a:ext cx="5029200" cy="1188720"/>
          </a:xfrm>
          <a:prstGeom prst="roundRect">
            <a:avLst/>
          </a:prstGeom>
          <a:solidFill>
            <a:srgbClr val="16213E"/>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2834640"/>
            <a:ext cx="4572000" cy="365760"/>
          </a:xfrm>
          <a:prstGeom prst="rect">
            <a:avLst/>
          </a:prstGeom>
          <a:noFill/>
        </p:spPr>
        <p:txBody>
          <a:bodyPr wrap="square">
            <a:spAutoFit/>
          </a:bodyPr>
          <a:lstStyle/>
          <a:p>
            <a:pPr algn="l">
              <a:defRPr sz="2000" b="1">
                <a:solidFill>
                  <a:srgbClr val="00D4FF"/>
                </a:solidFill>
                <a:latin typeface="Segoe UI"/>
              </a:defRPr>
            </a:pPr>
            <a:r>
              <a:t>5. Wiki Fetch</a:t>
            </a:r>
          </a:p>
        </p:txBody>
      </p:sp>
      <p:sp>
        <p:nvSpPr>
          <p:cNvPr id="20" name="TextBox 19"/>
          <p:cNvSpPr txBox="1"/>
          <p:nvPr/>
        </p:nvSpPr>
        <p:spPr>
          <a:xfrm>
            <a:off x="6675120" y="3246120"/>
            <a:ext cx="4572000" cy="548640"/>
          </a:xfrm>
          <a:prstGeom prst="rect">
            <a:avLst/>
          </a:prstGeom>
          <a:noFill/>
        </p:spPr>
        <p:txBody>
          <a:bodyPr wrap="square">
            <a:spAutoFit/>
          </a:bodyPr>
          <a:lstStyle/>
          <a:p>
            <a:pPr algn="l">
              <a:defRPr sz="1500" b="0">
                <a:solidFill>
                  <a:srgbClr val="CCCCCC"/>
                </a:solidFill>
                <a:latin typeface="Segoe UI"/>
              </a:defRPr>
            </a:pPr>
            <a:r>
              <a:t>Confluence page changes</a:t>
            </a:r>
            <a:br/>
            <a:r>
              <a:t>per team member</a:t>
            </a:r>
          </a:p>
        </p:txBody>
      </p:sp>
      <p:sp>
        <p:nvSpPr>
          <p:cNvPr id="21" name="Rounded Rectangle 20"/>
          <p:cNvSpPr/>
          <p:nvPr/>
        </p:nvSpPr>
        <p:spPr>
          <a:xfrm>
            <a:off x="6400800" y="4114800"/>
            <a:ext cx="5029200" cy="118872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4251960"/>
            <a:ext cx="4572000" cy="365760"/>
          </a:xfrm>
          <a:prstGeom prst="rect">
            <a:avLst/>
          </a:prstGeom>
          <a:noFill/>
        </p:spPr>
        <p:txBody>
          <a:bodyPr wrap="square">
            <a:spAutoFit/>
          </a:bodyPr>
          <a:lstStyle/>
          <a:p>
            <a:pPr algn="l">
              <a:defRPr sz="2000" b="1">
                <a:solidFill>
                  <a:srgbClr val="00E676"/>
                </a:solidFill>
                <a:latin typeface="Segoe UI"/>
              </a:defRPr>
            </a:pPr>
            <a:r>
              <a:t>6. Audio Gen</a:t>
            </a:r>
          </a:p>
        </p:txBody>
      </p:sp>
      <p:sp>
        <p:nvSpPr>
          <p:cNvPr id="23" name="TextBox 22"/>
          <p:cNvSpPr txBox="1"/>
          <p:nvPr/>
        </p:nvSpPr>
        <p:spPr>
          <a:xfrm>
            <a:off x="6675120" y="4663440"/>
            <a:ext cx="4572000" cy="548640"/>
          </a:xfrm>
          <a:prstGeom prst="rect">
            <a:avLst/>
          </a:prstGeom>
          <a:noFill/>
        </p:spPr>
        <p:txBody>
          <a:bodyPr wrap="square">
            <a:spAutoFit/>
          </a:bodyPr>
          <a:lstStyle/>
          <a:p>
            <a:pPr algn="l">
              <a:defRPr sz="1500" b="0">
                <a:solidFill>
                  <a:srgbClr val="CCCCCC"/>
                </a:solidFill>
                <a:latin typeface="Segoe UI"/>
              </a:defRPr>
            </a:pPr>
            <a:r>
              <a:t>Edge TTS narration: AI news,</a:t>
            </a:r>
            <a:br/>
            <a:r>
              <a:t>world news, China news MP3s</a:t>
            </a:r>
          </a:p>
        </p:txBody>
      </p:sp>
      <p:sp>
        <p:nvSpPr>
          <p:cNvPr id="24" name="TextBox 23"/>
          <p:cNvSpPr txBox="1"/>
          <p:nvPr/>
        </p:nvSpPr>
        <p:spPr>
          <a:xfrm>
            <a:off x="731520" y="5760720"/>
            <a:ext cx="10972800" cy="548640"/>
          </a:xfrm>
          <a:prstGeom prst="rect">
            <a:avLst/>
          </a:prstGeom>
          <a:noFill/>
        </p:spPr>
        <p:txBody>
          <a:bodyPr wrap="square">
            <a:spAutoFit/>
          </a:bodyPr>
          <a:lstStyle/>
          <a:p>
            <a:pPr algn="l">
              <a:defRPr sz="1800" b="0">
                <a:solidFill>
                  <a:srgbClr val="AAAAAA"/>
                </a:solidFill>
                <a:latin typeface="Segoe UI"/>
              </a:defRPr>
            </a:pPr>
            <a:r>
              <a:t>Output: Daily briefing PDF + 3 audio podcasts + indexed knowledge base + learning guide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
            <a:ext cx="9144000" cy="548640"/>
          </a:xfrm>
          <a:prstGeom prst="rect">
            <a:avLst/>
          </a:prstGeom>
          <a:noFill/>
        </p:spPr>
        <p:txBody>
          <a:bodyPr wrap="square">
            <a:spAutoFit/>
          </a:bodyPr>
          <a:lstStyle/>
          <a:p>
            <a:pPr algn="l">
              <a:defRPr sz="3600" b="1">
                <a:solidFill>
                  <a:srgbClr val="BB86FC"/>
                </a:solidFill>
                <a:latin typeface="Segoe UI"/>
              </a:defRPr>
            </a:pPr>
            <a:r>
              <a:t>Lessons &amp; Takeaways</a:t>
            </a:r>
          </a:p>
        </p:txBody>
      </p:sp>
      <p:sp>
        <p:nvSpPr>
          <p:cNvPr id="5" name="Rectangle 4"/>
          <p:cNvSpPr/>
          <p:nvPr/>
        </p:nvSpPr>
        <p:spPr>
          <a:xfrm>
            <a:off x="731520" y="822960"/>
            <a:ext cx="1828800" cy="36576"/>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280160"/>
            <a:ext cx="5486400" cy="228600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371600"/>
            <a:ext cx="5029200" cy="457200"/>
          </a:xfrm>
          <a:prstGeom prst="rect">
            <a:avLst/>
          </a:prstGeom>
          <a:noFill/>
        </p:spPr>
        <p:txBody>
          <a:bodyPr wrap="square">
            <a:spAutoFit/>
          </a:bodyPr>
          <a:lstStyle/>
          <a:p>
            <a:pPr algn="l">
              <a:defRPr sz="2200" b="1">
                <a:solidFill>
                  <a:srgbClr val="00E676"/>
                </a:solidFill>
                <a:latin typeface="Segoe UI"/>
              </a:defRPr>
            </a:pPr>
            <a:r>
              <a:t>What Worked Well</a:t>
            </a:r>
          </a:p>
        </p:txBody>
      </p:sp>
      <p:sp>
        <p:nvSpPr>
          <p:cNvPr id="8" name="TextBox 7"/>
          <p:cNvSpPr txBox="1"/>
          <p:nvPr/>
        </p:nvSpPr>
        <p:spPr>
          <a:xfrm>
            <a:off x="731520" y="1920240"/>
            <a:ext cx="5029200" cy="1371600"/>
          </a:xfrm>
          <a:prstGeom prst="rect">
            <a:avLst/>
          </a:prstGeom>
          <a:noFill/>
        </p:spPr>
        <p:txBody>
          <a:bodyPr wrap="square">
            <a:spAutoFit/>
          </a:bodyPr>
          <a:lstStyle/>
          <a:p>
            <a:pPr>
              <a:spcAft>
                <a:spcPts val="600"/>
              </a:spcAft>
              <a:defRPr sz="1500">
                <a:solidFill>
                  <a:srgbClr val="CCCCCC"/>
                </a:solidFill>
                <a:latin typeface="Segoe UI"/>
              </a:defRPr>
            </a:pPr>
            <a:r>
              <a:t>✓  Auto-RAG: always retrieve, never rely on LLM memory alone</a:t>
            </a:r>
          </a:p>
          <a:p>
            <a:pPr>
              <a:spcAft>
                <a:spcPts val="600"/>
              </a:spcAft>
              <a:defRPr sz="1500">
                <a:solidFill>
                  <a:srgbClr val="CCCCCC"/>
                </a:solidFill>
                <a:latin typeface="Segoe UI"/>
              </a:defRPr>
            </a:pPr>
            <a:r>
              <a:t>✓  Hybrid search (vector + BM25) catches both semantic and keyword matches</a:t>
            </a:r>
          </a:p>
          <a:p>
            <a:pPr>
              <a:spcAft>
                <a:spcPts val="600"/>
              </a:spcAft>
              <a:defRPr sz="1500">
                <a:solidFill>
                  <a:srgbClr val="CCCCCC"/>
                </a:solidFill>
                <a:latin typeface="Segoe UI"/>
              </a:defRPr>
            </a:pPr>
            <a:r>
              <a:t>✓  Local LLM: full privacy, no API costs, works offline</a:t>
            </a:r>
          </a:p>
          <a:p>
            <a:pPr>
              <a:spcAft>
                <a:spcPts val="600"/>
              </a:spcAft>
              <a:defRPr sz="1500">
                <a:solidFill>
                  <a:srgbClr val="CCCCCC"/>
                </a:solidFill>
                <a:latin typeface="Segoe UI"/>
              </a:defRPr>
            </a:pPr>
            <a:r>
              <a:t>✓  Incremental indexing: only re-embed changed documents</a:t>
            </a:r>
          </a:p>
        </p:txBody>
      </p:sp>
      <p:sp>
        <p:nvSpPr>
          <p:cNvPr id="9" name="Rounded Rectangle 8"/>
          <p:cNvSpPr/>
          <p:nvPr/>
        </p:nvSpPr>
        <p:spPr>
          <a:xfrm>
            <a:off x="6400800" y="1280160"/>
            <a:ext cx="5486400" cy="2286000"/>
          </a:xfrm>
          <a:prstGeom prst="roundRect">
            <a:avLst/>
          </a:prstGeom>
          <a:solidFill>
            <a:srgbClr val="1621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371600"/>
            <a:ext cx="5029200" cy="457200"/>
          </a:xfrm>
          <a:prstGeom prst="rect">
            <a:avLst/>
          </a:prstGeom>
          <a:noFill/>
        </p:spPr>
        <p:txBody>
          <a:bodyPr wrap="square">
            <a:spAutoFit/>
          </a:bodyPr>
          <a:lstStyle/>
          <a:p>
            <a:pPr algn="l">
              <a:defRPr sz="2200" b="1">
                <a:solidFill>
                  <a:srgbClr val="FF8C00"/>
                </a:solidFill>
                <a:latin typeface="Segoe UI"/>
              </a:defRPr>
            </a:pPr>
            <a:r>
              <a:t>Challenges</a:t>
            </a:r>
          </a:p>
        </p:txBody>
      </p:sp>
      <p:sp>
        <p:nvSpPr>
          <p:cNvPr id="11" name="TextBox 10"/>
          <p:cNvSpPr txBox="1"/>
          <p:nvPr/>
        </p:nvSpPr>
        <p:spPr>
          <a:xfrm>
            <a:off x="6675120" y="1920240"/>
            <a:ext cx="5029200" cy="1371600"/>
          </a:xfrm>
          <a:prstGeom prst="rect">
            <a:avLst/>
          </a:prstGeom>
          <a:noFill/>
        </p:spPr>
        <p:txBody>
          <a:bodyPr wrap="square">
            <a:spAutoFit/>
          </a:bodyPr>
          <a:lstStyle/>
          <a:p>
            <a:pPr>
              <a:spcAft>
                <a:spcPts val="600"/>
              </a:spcAft>
              <a:defRPr sz="1500">
                <a:solidFill>
                  <a:srgbClr val="CCCCCC"/>
                </a:solidFill>
                <a:latin typeface="Segoe UI"/>
              </a:defRPr>
            </a:pPr>
            <a:r>
              <a:t>⚠  Small local LLM (4B params) has quality limits vs GPT-4</a:t>
            </a:r>
          </a:p>
          <a:p>
            <a:pPr>
              <a:spcAft>
                <a:spcPts val="600"/>
              </a:spcAft>
              <a:defRPr sz="1500">
                <a:solidFill>
                  <a:srgbClr val="CCCCCC"/>
                </a:solidFill>
                <a:latin typeface="Segoe UI"/>
              </a:defRPr>
            </a:pPr>
            <a:r>
              <a:t>⚠  Tool calling reliability depends on model capability</a:t>
            </a:r>
          </a:p>
          <a:p>
            <a:pPr>
              <a:spcAft>
                <a:spcPts val="600"/>
              </a:spcAft>
              <a:defRPr sz="1500">
                <a:solidFill>
                  <a:srgbClr val="CCCCCC"/>
                </a:solidFill>
                <a:latin typeface="Segoe UI"/>
              </a:defRPr>
            </a:pPr>
            <a:r>
              <a:t>⚠  Embedding model is English-focused; Chinese content is secondary</a:t>
            </a:r>
          </a:p>
          <a:p>
            <a:pPr>
              <a:spcAft>
                <a:spcPts val="600"/>
              </a:spcAft>
              <a:defRPr sz="1500">
                <a:solidFill>
                  <a:srgbClr val="CCCCCC"/>
                </a:solidFill>
                <a:latin typeface="Segoe UI"/>
              </a:defRPr>
            </a:pPr>
            <a:r>
              <a:t>⚠  In-memory Qdrant requires snapshot management</a:t>
            </a:r>
          </a:p>
        </p:txBody>
      </p:sp>
      <p:sp>
        <p:nvSpPr>
          <p:cNvPr id="12" name="Rounded Rectangle 11"/>
          <p:cNvSpPr/>
          <p:nvPr/>
        </p:nvSpPr>
        <p:spPr>
          <a:xfrm>
            <a:off x="457200" y="3931920"/>
            <a:ext cx="11430000" cy="2560320"/>
          </a:xfrm>
          <a:prstGeom prst="roundRect">
            <a:avLst/>
          </a:prstGeom>
          <a:solidFill>
            <a:srgbClr val="1E2D50"/>
          </a:solidFill>
          <a:ln w="19050">
            <a:solidFill>
              <a:srgbClr val="BB86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4114800"/>
            <a:ext cx="10972800" cy="457200"/>
          </a:xfrm>
          <a:prstGeom prst="rect">
            <a:avLst/>
          </a:prstGeom>
          <a:noFill/>
        </p:spPr>
        <p:txBody>
          <a:bodyPr wrap="square">
            <a:spAutoFit/>
          </a:bodyPr>
          <a:lstStyle/>
          <a:p>
            <a:pPr algn="l">
              <a:defRPr sz="2400" b="1">
                <a:solidFill>
                  <a:srgbClr val="BB86FC"/>
                </a:solidFill>
                <a:latin typeface="Segoe UI"/>
              </a:defRPr>
            </a:pPr>
            <a:r>
              <a:t>Key Insight</a:t>
            </a:r>
          </a:p>
        </p:txBody>
      </p:sp>
      <p:sp>
        <p:nvSpPr>
          <p:cNvPr id="14" name="TextBox 13"/>
          <p:cNvSpPr txBox="1"/>
          <p:nvPr/>
        </p:nvSpPr>
        <p:spPr>
          <a:xfrm>
            <a:off x="731520" y="4663440"/>
            <a:ext cx="10972800" cy="1645920"/>
          </a:xfrm>
          <a:prstGeom prst="rect">
            <a:avLst/>
          </a:prstGeom>
          <a:noFill/>
        </p:spPr>
        <p:txBody>
          <a:bodyPr wrap="square">
            <a:spAutoFit/>
          </a:bodyPr>
          <a:lstStyle/>
          <a:p>
            <a:pPr>
              <a:spcAft>
                <a:spcPts val="600"/>
              </a:spcAft>
              <a:defRPr sz="1800">
                <a:solidFill>
                  <a:srgbClr val="FFFFFF"/>
                </a:solidFill>
                <a:latin typeface="Segoe UI"/>
              </a:defRPr>
            </a:pPr>
            <a:r>
              <a:t>➤  RAG is the practical bridge between powerful-but-generic LLMs and your team's specific knowledge.</a:t>
            </a:r>
          </a:p>
          <a:p>
            <a:pPr>
              <a:spcAft>
                <a:spcPts val="600"/>
              </a:spcAft>
              <a:defRPr sz="1800">
                <a:solidFill>
                  <a:srgbClr val="FFFFFF"/>
                </a:solidFill>
                <a:latin typeface="Segoe UI"/>
              </a:defRPr>
            </a:pPr>
            <a:r>
              <a:t>➤  You don't need GPT-4 to build useful tools — a small model + great retrieval goes a long way.</a:t>
            </a:r>
          </a:p>
          <a:p>
            <a:pPr>
              <a:spcAft>
                <a:spcPts val="600"/>
              </a:spcAft>
              <a:defRPr sz="1800">
                <a:solidFill>
                  <a:srgbClr val="FFFFFF"/>
                </a:solidFill>
                <a:latin typeface="Segoe UI"/>
              </a:defRPr>
            </a:pPr>
            <a:r>
              <a:t>➤  The real engineering is in the retrieval pipeline, not the generation step.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058400" cy="914400"/>
          </a:xfrm>
          <a:prstGeom prst="rect">
            <a:avLst/>
          </a:prstGeom>
          <a:noFill/>
        </p:spPr>
        <p:txBody>
          <a:bodyPr wrap="square">
            <a:spAutoFit/>
          </a:bodyPr>
          <a:lstStyle/>
          <a:p>
            <a:pPr algn="ctr">
              <a:defRPr sz="6000" b="1">
                <a:solidFill>
                  <a:srgbClr val="00D4FF"/>
                </a:solidFill>
                <a:latin typeface="Segoe UI"/>
              </a:defRPr>
            </a:pPr>
            <a:r>
              <a:t>Thank You!</a:t>
            </a:r>
          </a:p>
        </p:txBody>
      </p:sp>
      <p:sp>
        <p:nvSpPr>
          <p:cNvPr id="5" name="TextBox 4"/>
          <p:cNvSpPr txBox="1"/>
          <p:nvPr/>
        </p:nvSpPr>
        <p:spPr>
          <a:xfrm>
            <a:off x="914400" y="3017520"/>
            <a:ext cx="10058400" cy="731520"/>
          </a:xfrm>
          <a:prstGeom prst="rect">
            <a:avLst/>
          </a:prstGeom>
          <a:noFill/>
        </p:spPr>
        <p:txBody>
          <a:bodyPr wrap="square">
            <a:spAutoFit/>
          </a:bodyPr>
          <a:lstStyle/>
          <a:p>
            <a:pPr algn="ctr">
              <a:defRPr sz="3200" b="0">
                <a:solidFill>
                  <a:srgbClr val="FFFFFF"/>
                </a:solidFill>
                <a:latin typeface="Segoe UI"/>
              </a:defRPr>
            </a:pPr>
            <a:r>
              <a:t>Questions &amp; Discussion</a:t>
            </a:r>
          </a:p>
        </p:txBody>
      </p:sp>
      <p:sp>
        <p:nvSpPr>
          <p:cNvPr id="6" name="Rectangle 5"/>
          <p:cNvSpPr/>
          <p:nvPr/>
        </p:nvSpPr>
        <p:spPr>
          <a:xfrm>
            <a:off x="4572000" y="3931920"/>
            <a:ext cx="3047695"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389120"/>
            <a:ext cx="10058400" cy="548640"/>
          </a:xfrm>
          <a:prstGeom prst="rect">
            <a:avLst/>
          </a:prstGeom>
          <a:noFill/>
        </p:spPr>
        <p:txBody>
          <a:bodyPr wrap="square">
            <a:spAutoFit/>
          </a:bodyPr>
          <a:lstStyle/>
          <a:p>
            <a:pPr algn="ctr">
              <a:defRPr sz="2000" b="0">
                <a:solidFill>
                  <a:srgbClr val="AAAAAA"/>
                </a:solidFill>
                <a:latin typeface="Segoe UI"/>
              </a:defRPr>
            </a:pPr>
            <a:r>
              <a:t>Jarvis  |  http://localhost:18889</a:t>
            </a:r>
          </a:p>
        </p:txBody>
      </p:sp>
      <p:sp>
        <p:nvSpPr>
          <p:cNvPr id="8" name="TextBox 7"/>
          <p:cNvSpPr txBox="1"/>
          <p:nvPr/>
        </p:nvSpPr>
        <p:spPr>
          <a:xfrm>
            <a:off x="914400" y="4937760"/>
            <a:ext cx="10058400" cy="548640"/>
          </a:xfrm>
          <a:prstGeom prst="rect">
            <a:avLst/>
          </a:prstGeom>
          <a:noFill/>
        </p:spPr>
        <p:txBody>
          <a:bodyPr wrap="square">
            <a:spAutoFit/>
          </a:bodyPr>
          <a:lstStyle/>
          <a:p>
            <a:pPr algn="ctr">
              <a:defRPr sz="2000" b="0">
                <a:solidFill>
                  <a:srgbClr val="AAAAAA"/>
                </a:solidFill>
                <a:latin typeface="Segoe UI"/>
              </a:defRPr>
            </a:pPr>
            <a:r>
              <a:t>Search UI  |  http://localhost:18888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2061</Words>
  <Application>Microsoft Office PowerPoint</Application>
  <PresentationFormat>Widescreen</PresentationFormat>
  <Paragraphs>209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Rong Yin</cp:lastModifiedBy>
  <cp:revision>2</cp:revision>
  <dcterms:created xsi:type="dcterms:W3CDTF">2013-01-27T09:14:16Z</dcterms:created>
  <dcterms:modified xsi:type="dcterms:W3CDTF">2026-05-03T03:40:43Z</dcterms:modified>
  <cp:category/>
</cp:coreProperties>
</file>